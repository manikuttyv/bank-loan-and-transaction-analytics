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81" r:id="rId3"/>
    <p:sldId id="282" r:id="rId4"/>
    <p:sldId id="283" r:id="rId5"/>
    <p:sldId id="284" r:id="rId6"/>
    <p:sldId id="258" r:id="rId7"/>
    <p:sldId id="257" r:id="rId8"/>
    <p:sldId id="260" r:id="rId9"/>
    <p:sldId id="259" r:id="rId10"/>
    <p:sldId id="261" r:id="rId11"/>
    <p:sldId id="262" r:id="rId12"/>
    <p:sldId id="263" r:id="rId13"/>
    <p:sldId id="264" r:id="rId14"/>
    <p:sldId id="265" r:id="rId15"/>
    <p:sldId id="266" r:id="rId16"/>
    <p:sldId id="268" r:id="rId17"/>
    <p:sldId id="267"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07A"/>
    <a:srgbClr val="1A32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BF092-D774-4C5A-AAB9-A17B9D609EF7}" v="281" dt="2026-02-17T17:14:52.5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kutty V" userId="628e5e0cfbdd8151" providerId="Windows Live" clId="Web-{1283C2CA-3EAC-E528-FC3C-8A57DB92A48B}"/>
    <pc:docChg chg="addSld modSld">
      <pc:chgData name="Manikutty V" userId="628e5e0cfbdd8151" providerId="Windows Live" clId="Web-{1283C2CA-3EAC-E528-FC3C-8A57DB92A48B}" dt="2026-02-16T04:24:45.203" v="2"/>
      <pc:docMkLst>
        <pc:docMk/>
      </pc:docMkLst>
      <pc:sldChg chg="modSp">
        <pc:chgData name="Manikutty V" userId="628e5e0cfbdd8151" providerId="Windows Live" clId="Web-{1283C2CA-3EAC-E528-FC3C-8A57DB92A48B}" dt="2026-02-16T04:24:45.046" v="1"/>
        <pc:sldMkLst>
          <pc:docMk/>
          <pc:sldMk cId="2895009131" sldId="266"/>
        </pc:sldMkLst>
        <pc:picChg chg="mod modCrop">
          <ac:chgData name="Manikutty V" userId="628e5e0cfbdd8151" providerId="Windows Live" clId="Web-{1283C2CA-3EAC-E528-FC3C-8A57DB92A48B}" dt="2026-02-16T04:24:45.046" v="1"/>
          <ac:picMkLst>
            <pc:docMk/>
            <pc:sldMk cId="2895009131" sldId="266"/>
            <ac:picMk id="6" creationId="{BD3C2E05-E738-CA47-1B7E-C0CB5EC41E0B}"/>
          </ac:picMkLst>
        </pc:picChg>
      </pc:sldChg>
      <pc:sldChg chg="new">
        <pc:chgData name="Manikutty V" userId="628e5e0cfbdd8151" providerId="Windows Live" clId="Web-{1283C2CA-3EAC-E528-FC3C-8A57DB92A48B}" dt="2026-02-16T04:24:45.203" v="2"/>
        <pc:sldMkLst>
          <pc:docMk/>
          <pc:sldMk cId="3437259852" sldId="267"/>
        </pc:sldMkLst>
      </pc:sldChg>
    </pc:docChg>
  </pc:docChgLst>
  <pc:docChgLst>
    <pc:chgData name="Manikutty V" userId="628e5e0cfbdd8151" providerId="LiveId" clId="{26D72D79-F536-4A9D-9A44-F6C3FFB636D0}"/>
    <pc:docChg chg="undo custSel addSld delSld modSld">
      <pc:chgData name="Manikutty V" userId="628e5e0cfbdd8151" providerId="LiveId" clId="{26D72D79-F536-4A9D-9A44-F6C3FFB636D0}" dt="2026-02-17T17:15:04.905" v="622" actId="113"/>
      <pc:docMkLst>
        <pc:docMk/>
      </pc:docMkLst>
      <pc:sldChg chg="modSp mod">
        <pc:chgData name="Manikutty V" userId="628e5e0cfbdd8151" providerId="LiveId" clId="{26D72D79-F536-4A9D-9A44-F6C3FFB636D0}" dt="2026-02-17T16:29:52.673" v="554"/>
        <pc:sldMkLst>
          <pc:docMk/>
          <pc:sldMk cId="455605712" sldId="256"/>
        </pc:sldMkLst>
        <pc:spChg chg="mod">
          <ac:chgData name="Manikutty V" userId="628e5e0cfbdd8151" providerId="LiveId" clId="{26D72D79-F536-4A9D-9A44-F6C3FFB636D0}" dt="2026-02-17T16:29:14.021" v="553" actId="255"/>
          <ac:spMkLst>
            <pc:docMk/>
            <pc:sldMk cId="455605712" sldId="256"/>
            <ac:spMk id="2" creationId="{F3A30291-CE95-A753-61D4-0B8AF1DED210}"/>
          </ac:spMkLst>
        </pc:spChg>
        <pc:spChg chg="mod">
          <ac:chgData name="Manikutty V" userId="628e5e0cfbdd8151" providerId="LiveId" clId="{26D72D79-F536-4A9D-9A44-F6C3FFB636D0}" dt="2026-02-17T16:29:52.673" v="554"/>
          <ac:spMkLst>
            <pc:docMk/>
            <pc:sldMk cId="455605712" sldId="256"/>
            <ac:spMk id="3" creationId="{FEBCDE72-8056-AE13-0328-91E40636DF27}"/>
          </ac:spMkLst>
        </pc:spChg>
      </pc:sldChg>
      <pc:sldChg chg="modSp">
        <pc:chgData name="Manikutty V" userId="628e5e0cfbdd8151" providerId="LiveId" clId="{26D72D79-F536-4A9D-9A44-F6C3FFB636D0}" dt="2026-02-16T04:13:42.717" v="99"/>
        <pc:sldMkLst>
          <pc:docMk/>
          <pc:sldMk cId="777201821" sldId="259"/>
        </pc:sldMkLst>
        <pc:picChg chg="mod">
          <ac:chgData name="Manikutty V" userId="628e5e0cfbdd8151" providerId="LiveId" clId="{26D72D79-F536-4A9D-9A44-F6C3FFB636D0}" dt="2026-02-16T04:13:42.717" v="99"/>
          <ac:picMkLst>
            <pc:docMk/>
            <pc:sldMk cId="777201821" sldId="259"/>
            <ac:picMk id="9" creationId="{DE0B11D3-A104-FBCC-0B79-B75A43971000}"/>
          </ac:picMkLst>
        </pc:picChg>
      </pc:sldChg>
      <pc:sldChg chg="modSp mod">
        <pc:chgData name="Manikutty V" userId="628e5e0cfbdd8151" providerId="LiveId" clId="{26D72D79-F536-4A9D-9A44-F6C3FFB636D0}" dt="2026-02-16T04:13:29.890" v="98"/>
        <pc:sldMkLst>
          <pc:docMk/>
          <pc:sldMk cId="1483108308" sldId="260"/>
        </pc:sldMkLst>
        <pc:spChg chg="mod">
          <ac:chgData name="Manikutty V" userId="628e5e0cfbdd8151" providerId="LiveId" clId="{26D72D79-F536-4A9D-9A44-F6C3FFB636D0}" dt="2026-02-16T03:30:40.703" v="0" actId="14100"/>
          <ac:spMkLst>
            <pc:docMk/>
            <pc:sldMk cId="1483108308" sldId="260"/>
            <ac:spMk id="7" creationId="{5E7D304C-E6DB-AC15-3941-7835E3DD2C97}"/>
          </ac:spMkLst>
        </pc:spChg>
        <pc:picChg chg="mod">
          <ac:chgData name="Manikutty V" userId="628e5e0cfbdd8151" providerId="LiveId" clId="{26D72D79-F536-4A9D-9A44-F6C3FFB636D0}" dt="2026-02-16T04:13:29.890" v="98"/>
          <ac:picMkLst>
            <pc:docMk/>
            <pc:sldMk cId="1483108308" sldId="260"/>
            <ac:picMk id="9" creationId="{3DEDDA45-AE61-61B5-7FC0-AEE023A5688F}"/>
          </ac:picMkLst>
        </pc:picChg>
      </pc:sldChg>
      <pc:sldChg chg="addSp delSp modSp mod">
        <pc:chgData name="Manikutty V" userId="628e5e0cfbdd8151" providerId="LiveId" clId="{26D72D79-F536-4A9D-9A44-F6C3FFB636D0}" dt="2026-02-16T04:13:53.271" v="100" actId="14100"/>
        <pc:sldMkLst>
          <pc:docMk/>
          <pc:sldMk cId="3661252552" sldId="261"/>
        </pc:sldMkLst>
        <pc:spChg chg="mod">
          <ac:chgData name="Manikutty V" userId="628e5e0cfbdd8151" providerId="LiveId" clId="{26D72D79-F536-4A9D-9A44-F6C3FFB636D0}" dt="2026-02-16T03:35:40.369" v="2"/>
          <ac:spMkLst>
            <pc:docMk/>
            <pc:sldMk cId="3661252552" sldId="261"/>
            <ac:spMk id="2" creationId="{755B1F64-1203-9543-0D0C-2766F211F1D5}"/>
          </ac:spMkLst>
        </pc:spChg>
        <pc:spChg chg="add del mod">
          <ac:chgData name="Manikutty V" userId="628e5e0cfbdd8151" providerId="LiveId" clId="{26D72D79-F536-4A9D-9A44-F6C3FFB636D0}" dt="2026-02-16T03:35:57.187" v="5"/>
          <ac:spMkLst>
            <pc:docMk/>
            <pc:sldMk cId="3661252552" sldId="261"/>
            <ac:spMk id="3" creationId="{CE0D18A2-258C-E22D-BC6A-A82C8AA1698F}"/>
          </ac:spMkLst>
        </pc:spChg>
        <pc:spChg chg="add mod">
          <ac:chgData name="Manikutty V" userId="628e5e0cfbdd8151" providerId="LiveId" clId="{26D72D79-F536-4A9D-9A44-F6C3FFB636D0}" dt="2026-02-16T03:38:30.359" v="22" actId="1076"/>
          <ac:spMkLst>
            <pc:docMk/>
            <pc:sldMk cId="3661252552" sldId="261"/>
            <ac:spMk id="4" creationId="{E743135F-18DE-07F3-DF16-E73FFD8D750E}"/>
          </ac:spMkLst>
        </pc:spChg>
        <pc:picChg chg="mod">
          <ac:chgData name="Manikutty V" userId="628e5e0cfbdd8151" providerId="LiveId" clId="{26D72D79-F536-4A9D-9A44-F6C3FFB636D0}" dt="2026-02-16T04:13:53.271" v="100" actId="14100"/>
          <ac:picMkLst>
            <pc:docMk/>
            <pc:sldMk cId="3661252552" sldId="261"/>
            <ac:picMk id="6" creationId="{7149272B-C4DB-CEA0-2F4E-540C55626840}"/>
          </ac:picMkLst>
        </pc:picChg>
      </pc:sldChg>
      <pc:sldChg chg="addSp modSp mod">
        <pc:chgData name="Manikutty V" userId="628e5e0cfbdd8151" providerId="LiveId" clId="{26D72D79-F536-4A9D-9A44-F6C3FFB636D0}" dt="2026-02-16T04:15:09.615" v="102" actId="113"/>
        <pc:sldMkLst>
          <pc:docMk/>
          <pc:sldMk cId="2268595188" sldId="262"/>
        </pc:sldMkLst>
        <pc:spChg chg="mod">
          <ac:chgData name="Manikutty V" userId="628e5e0cfbdd8151" providerId="LiveId" clId="{26D72D79-F536-4A9D-9A44-F6C3FFB636D0}" dt="2026-02-16T03:41:51.019" v="32"/>
          <ac:spMkLst>
            <pc:docMk/>
            <pc:sldMk cId="2268595188" sldId="262"/>
            <ac:spMk id="2" creationId="{8BF34683-DF48-488E-3786-3351FB6D610B}"/>
          </ac:spMkLst>
        </pc:spChg>
        <pc:spChg chg="add mod">
          <ac:chgData name="Manikutty V" userId="628e5e0cfbdd8151" providerId="LiveId" clId="{26D72D79-F536-4A9D-9A44-F6C3FFB636D0}" dt="2026-02-16T04:15:09.615" v="102" actId="113"/>
          <ac:spMkLst>
            <pc:docMk/>
            <pc:sldMk cId="2268595188" sldId="262"/>
            <ac:spMk id="3" creationId="{E6084F61-B966-C96A-B51E-B7082751EB7A}"/>
          </ac:spMkLst>
        </pc:spChg>
      </pc:sldChg>
      <pc:sldChg chg="addSp delSp modSp mod">
        <pc:chgData name="Manikutty V" userId="628e5e0cfbdd8151" providerId="LiveId" clId="{26D72D79-F536-4A9D-9A44-F6C3FFB636D0}" dt="2026-02-16T04:01:25.311" v="53"/>
        <pc:sldMkLst>
          <pc:docMk/>
          <pc:sldMk cId="3675733267" sldId="263"/>
        </pc:sldMkLst>
        <pc:spChg chg="mod">
          <ac:chgData name="Manikutty V" userId="628e5e0cfbdd8151" providerId="LiveId" clId="{26D72D79-F536-4A9D-9A44-F6C3FFB636D0}" dt="2026-02-16T04:01:25.311" v="53"/>
          <ac:spMkLst>
            <pc:docMk/>
            <pc:sldMk cId="3675733267" sldId="263"/>
            <ac:spMk id="2" creationId="{BEFE64E9-8BCF-FDFE-BF53-E0A1EA6A4D90}"/>
          </ac:spMkLst>
        </pc:spChg>
        <pc:spChg chg="add del mod">
          <ac:chgData name="Manikutty V" userId="628e5e0cfbdd8151" providerId="LiveId" clId="{26D72D79-F536-4A9D-9A44-F6C3FFB636D0}" dt="2026-02-16T03:58:29.206" v="36" actId="478"/>
          <ac:spMkLst>
            <pc:docMk/>
            <pc:sldMk cId="3675733267" sldId="263"/>
            <ac:spMk id="3" creationId="{A3205239-3E13-BF86-B909-5FDB603F1040}"/>
          </ac:spMkLst>
        </pc:spChg>
        <pc:spChg chg="add del mod">
          <ac:chgData name="Manikutty V" userId="628e5e0cfbdd8151" providerId="LiveId" clId="{26D72D79-F536-4A9D-9A44-F6C3FFB636D0}" dt="2026-02-16T03:58:29.206" v="36" actId="478"/>
          <ac:spMkLst>
            <pc:docMk/>
            <pc:sldMk cId="3675733267" sldId="263"/>
            <ac:spMk id="4" creationId="{CB0E67A4-7BCE-5886-ACD6-8420D25EEB3E}"/>
          </ac:spMkLst>
        </pc:spChg>
        <pc:spChg chg="add mod">
          <ac:chgData name="Manikutty V" userId="628e5e0cfbdd8151" providerId="LiveId" clId="{26D72D79-F536-4A9D-9A44-F6C3FFB636D0}" dt="2026-02-16T04:01:00.301" v="52" actId="1076"/>
          <ac:spMkLst>
            <pc:docMk/>
            <pc:sldMk cId="3675733267" sldId="263"/>
            <ac:spMk id="5" creationId="{F55EB8C1-B61F-32E2-B0BE-70173DF03683}"/>
          </ac:spMkLst>
        </pc:spChg>
      </pc:sldChg>
      <pc:sldChg chg="addSp modSp mod">
        <pc:chgData name="Manikutty V" userId="628e5e0cfbdd8151" providerId="LiveId" clId="{26D72D79-F536-4A9D-9A44-F6C3FFB636D0}" dt="2026-02-16T04:04:38.039" v="66" actId="113"/>
        <pc:sldMkLst>
          <pc:docMk/>
          <pc:sldMk cId="1392189584" sldId="264"/>
        </pc:sldMkLst>
        <pc:spChg chg="mod">
          <ac:chgData name="Manikutty V" userId="628e5e0cfbdd8151" providerId="LiveId" clId="{26D72D79-F536-4A9D-9A44-F6C3FFB636D0}" dt="2026-02-16T04:04:26.787" v="63"/>
          <ac:spMkLst>
            <pc:docMk/>
            <pc:sldMk cId="1392189584" sldId="264"/>
            <ac:spMk id="2" creationId="{F9131A61-3981-3690-88CE-76D6F5AF9CEF}"/>
          </ac:spMkLst>
        </pc:spChg>
        <pc:spChg chg="add mod">
          <ac:chgData name="Manikutty V" userId="628e5e0cfbdd8151" providerId="LiveId" clId="{26D72D79-F536-4A9D-9A44-F6C3FFB636D0}" dt="2026-02-16T04:04:38.039" v="66" actId="113"/>
          <ac:spMkLst>
            <pc:docMk/>
            <pc:sldMk cId="1392189584" sldId="264"/>
            <ac:spMk id="4" creationId="{CA4FD40D-AA66-7EDE-2240-EC2AC34943B9}"/>
          </ac:spMkLst>
        </pc:spChg>
      </pc:sldChg>
      <pc:sldChg chg="addSp modSp mod">
        <pc:chgData name="Manikutty V" userId="628e5e0cfbdd8151" providerId="LiveId" clId="{26D72D79-F536-4A9D-9A44-F6C3FFB636D0}" dt="2026-02-16T04:08:10.786" v="83" actId="1076"/>
        <pc:sldMkLst>
          <pc:docMk/>
          <pc:sldMk cId="649599581" sldId="265"/>
        </pc:sldMkLst>
        <pc:spChg chg="mod">
          <ac:chgData name="Manikutty V" userId="628e5e0cfbdd8151" providerId="LiveId" clId="{26D72D79-F536-4A9D-9A44-F6C3FFB636D0}" dt="2026-02-16T04:06:13.659" v="67"/>
          <ac:spMkLst>
            <pc:docMk/>
            <pc:sldMk cId="649599581" sldId="265"/>
            <ac:spMk id="2" creationId="{198ABB48-B229-E805-DF0C-BCA54B325DE8}"/>
          </ac:spMkLst>
        </pc:spChg>
        <pc:spChg chg="add mod">
          <ac:chgData name="Manikutty V" userId="628e5e0cfbdd8151" providerId="LiveId" clId="{26D72D79-F536-4A9D-9A44-F6C3FFB636D0}" dt="2026-02-16T04:08:10.786" v="83" actId="1076"/>
          <ac:spMkLst>
            <pc:docMk/>
            <pc:sldMk cId="649599581" sldId="265"/>
            <ac:spMk id="3" creationId="{8F77686B-671E-9595-6EBD-0773036F8F29}"/>
          </ac:spMkLst>
        </pc:spChg>
      </pc:sldChg>
      <pc:sldChg chg="addSp modSp mod">
        <pc:chgData name="Manikutty V" userId="628e5e0cfbdd8151" providerId="LiveId" clId="{26D72D79-F536-4A9D-9A44-F6C3FFB636D0}" dt="2026-02-16T04:11:39.585" v="97" actId="1076"/>
        <pc:sldMkLst>
          <pc:docMk/>
          <pc:sldMk cId="2895009131" sldId="266"/>
        </pc:sldMkLst>
        <pc:spChg chg="mod">
          <ac:chgData name="Manikutty V" userId="628e5e0cfbdd8151" providerId="LiveId" clId="{26D72D79-F536-4A9D-9A44-F6C3FFB636D0}" dt="2026-02-16T04:10:00.936" v="84"/>
          <ac:spMkLst>
            <pc:docMk/>
            <pc:sldMk cId="2895009131" sldId="266"/>
            <ac:spMk id="2" creationId="{04575419-95EA-7C68-283D-2935375D1260}"/>
          </ac:spMkLst>
        </pc:spChg>
        <pc:spChg chg="add mod">
          <ac:chgData name="Manikutty V" userId="628e5e0cfbdd8151" providerId="LiveId" clId="{26D72D79-F536-4A9D-9A44-F6C3FFB636D0}" dt="2026-02-16T04:11:39.585" v="97" actId="1076"/>
          <ac:spMkLst>
            <pc:docMk/>
            <pc:sldMk cId="2895009131" sldId="266"/>
            <ac:spMk id="4" creationId="{B2A9C7B5-2AE6-E9EE-6779-847EA1E5B924}"/>
          </ac:spMkLst>
        </pc:spChg>
      </pc:sldChg>
      <pc:sldChg chg="addSp delSp modSp mod">
        <pc:chgData name="Manikutty V" userId="628e5e0cfbdd8151" providerId="LiveId" clId="{26D72D79-F536-4A9D-9A44-F6C3FFB636D0}" dt="2026-02-16T15:39:20.998" v="128" actId="14100"/>
        <pc:sldMkLst>
          <pc:docMk/>
          <pc:sldMk cId="3437259852" sldId="267"/>
        </pc:sldMkLst>
        <pc:spChg chg="mod">
          <ac:chgData name="Manikutty V" userId="628e5e0cfbdd8151" providerId="LiveId" clId="{26D72D79-F536-4A9D-9A44-F6C3FFB636D0}" dt="2026-02-16T15:33:20.900" v="109"/>
          <ac:spMkLst>
            <pc:docMk/>
            <pc:sldMk cId="3437259852" sldId="267"/>
            <ac:spMk id="2" creationId="{6609355A-169D-98BA-53FF-F5718218EC4D}"/>
          </ac:spMkLst>
        </pc:spChg>
        <pc:spChg chg="del">
          <ac:chgData name="Manikutty V" userId="628e5e0cfbdd8151" providerId="LiveId" clId="{26D72D79-F536-4A9D-9A44-F6C3FFB636D0}" dt="2026-02-16T15:32:33.796" v="107" actId="22"/>
          <ac:spMkLst>
            <pc:docMk/>
            <pc:sldMk cId="3437259852" sldId="267"/>
            <ac:spMk id="3" creationId="{652812E3-132C-3A3B-E9B8-3CF3997CC561}"/>
          </ac:spMkLst>
        </pc:spChg>
        <pc:spChg chg="add del mod">
          <ac:chgData name="Manikutty V" userId="628e5e0cfbdd8151" providerId="LiveId" clId="{26D72D79-F536-4A9D-9A44-F6C3FFB636D0}" dt="2026-02-16T15:37:55.285" v="113" actId="478"/>
          <ac:spMkLst>
            <pc:docMk/>
            <pc:sldMk cId="3437259852" sldId="267"/>
            <ac:spMk id="6" creationId="{D4B405C3-6EE2-CC16-EDB9-0A5FF51AC163}"/>
          </ac:spMkLst>
        </pc:spChg>
        <pc:spChg chg="add del">
          <ac:chgData name="Manikutty V" userId="628e5e0cfbdd8151" providerId="LiveId" clId="{26D72D79-F536-4A9D-9A44-F6C3FFB636D0}" dt="2026-02-16T15:37:55.285" v="113" actId="478"/>
          <ac:spMkLst>
            <pc:docMk/>
            <pc:sldMk cId="3437259852" sldId="267"/>
            <ac:spMk id="7" creationId="{53082FA9-F620-D4BC-BEF1-2A6C28513708}"/>
          </ac:spMkLst>
        </pc:spChg>
        <pc:spChg chg="add mod">
          <ac:chgData name="Manikutty V" userId="628e5e0cfbdd8151" providerId="LiveId" clId="{26D72D79-F536-4A9D-9A44-F6C3FFB636D0}" dt="2026-02-16T15:39:15.476" v="127" actId="14100"/>
          <ac:spMkLst>
            <pc:docMk/>
            <pc:sldMk cId="3437259852" sldId="267"/>
            <ac:spMk id="8" creationId="{ED5B012D-6689-0DBA-2EE1-6398792ADA5C}"/>
          </ac:spMkLst>
        </pc:spChg>
        <pc:picChg chg="add mod ord">
          <ac:chgData name="Manikutty V" userId="628e5e0cfbdd8151" providerId="LiveId" clId="{26D72D79-F536-4A9D-9A44-F6C3FFB636D0}" dt="2026-02-16T15:39:20.998" v="128" actId="14100"/>
          <ac:picMkLst>
            <pc:docMk/>
            <pc:sldMk cId="3437259852" sldId="267"/>
            <ac:picMk id="5" creationId="{3A5C6B88-DB22-15CF-3530-26D32AA412EB}"/>
          </ac:picMkLst>
        </pc:picChg>
      </pc:sldChg>
      <pc:sldChg chg="modSp new mod">
        <pc:chgData name="Manikutty V" userId="628e5e0cfbdd8151" providerId="LiveId" clId="{26D72D79-F536-4A9D-9A44-F6C3FFB636D0}" dt="2026-02-16T15:30:29.485" v="106" actId="255"/>
        <pc:sldMkLst>
          <pc:docMk/>
          <pc:sldMk cId="408072772" sldId="268"/>
        </pc:sldMkLst>
        <pc:spChg chg="mod">
          <ac:chgData name="Manikutty V" userId="628e5e0cfbdd8151" providerId="LiveId" clId="{26D72D79-F536-4A9D-9A44-F6C3FFB636D0}" dt="2026-02-16T15:30:29.485" v="106" actId="255"/>
          <ac:spMkLst>
            <pc:docMk/>
            <pc:sldMk cId="408072772" sldId="268"/>
            <ac:spMk id="2" creationId="{4957B625-0758-E0E7-D546-32E8B78164FE}"/>
          </ac:spMkLst>
        </pc:spChg>
        <pc:spChg chg="mod">
          <ac:chgData name="Manikutty V" userId="628e5e0cfbdd8151" providerId="LiveId" clId="{26D72D79-F536-4A9D-9A44-F6C3FFB636D0}" dt="2026-02-16T15:30:07.807" v="105"/>
          <ac:spMkLst>
            <pc:docMk/>
            <pc:sldMk cId="408072772" sldId="268"/>
            <ac:spMk id="3" creationId="{4802A399-F5E4-516F-F70B-7EC8E099774E}"/>
          </ac:spMkLst>
        </pc:spChg>
      </pc:sldChg>
      <pc:sldChg chg="addSp delSp modSp new mod">
        <pc:chgData name="Manikutty V" userId="628e5e0cfbdd8151" providerId="LiveId" clId="{26D72D79-F536-4A9D-9A44-F6C3FFB636D0}" dt="2026-02-16T15:54:36.661" v="153"/>
        <pc:sldMkLst>
          <pc:docMk/>
          <pc:sldMk cId="4080832082" sldId="269"/>
        </pc:sldMkLst>
        <pc:spChg chg="mod">
          <ac:chgData name="Manikutty V" userId="628e5e0cfbdd8151" providerId="LiveId" clId="{26D72D79-F536-4A9D-9A44-F6C3FFB636D0}" dt="2026-02-16T15:54:36.661" v="153"/>
          <ac:spMkLst>
            <pc:docMk/>
            <pc:sldMk cId="4080832082" sldId="269"/>
            <ac:spMk id="2" creationId="{30661278-A14C-B0D4-64D2-4992427AA47E}"/>
          </ac:spMkLst>
        </pc:spChg>
        <pc:spChg chg="del">
          <ac:chgData name="Manikutty V" userId="628e5e0cfbdd8151" providerId="LiveId" clId="{26D72D79-F536-4A9D-9A44-F6C3FFB636D0}" dt="2026-02-16T15:44:15.235" v="130" actId="22"/>
          <ac:spMkLst>
            <pc:docMk/>
            <pc:sldMk cId="4080832082" sldId="269"/>
            <ac:spMk id="3" creationId="{C40D60A7-EEAA-F72F-696B-717454C58E5B}"/>
          </ac:spMkLst>
        </pc:spChg>
        <pc:spChg chg="add mod">
          <ac:chgData name="Manikutty V" userId="628e5e0cfbdd8151" providerId="LiveId" clId="{26D72D79-F536-4A9D-9A44-F6C3FFB636D0}" dt="2026-02-16T15:52:33.832" v="151" actId="14100"/>
          <ac:spMkLst>
            <pc:docMk/>
            <pc:sldMk cId="4080832082" sldId="269"/>
            <ac:spMk id="6" creationId="{C583AEC0-90AA-896C-2A8C-78BCD8A693E1}"/>
          </ac:spMkLst>
        </pc:spChg>
        <pc:picChg chg="add mod ord">
          <ac:chgData name="Manikutty V" userId="628e5e0cfbdd8151" providerId="LiveId" clId="{26D72D79-F536-4A9D-9A44-F6C3FFB636D0}" dt="2026-02-16T15:44:42.322" v="135" actId="14100"/>
          <ac:picMkLst>
            <pc:docMk/>
            <pc:sldMk cId="4080832082" sldId="269"/>
            <ac:picMk id="5" creationId="{F6F256C1-20F2-17BE-67EC-171F2BD4D8FE}"/>
          </ac:picMkLst>
        </pc:picChg>
      </pc:sldChg>
      <pc:sldChg chg="addSp delSp modSp new mod">
        <pc:chgData name="Manikutty V" userId="628e5e0cfbdd8151" providerId="LiveId" clId="{26D72D79-F536-4A9D-9A44-F6C3FFB636D0}" dt="2026-02-16T16:00:55.245" v="266" actId="1076"/>
        <pc:sldMkLst>
          <pc:docMk/>
          <pc:sldMk cId="2076285390" sldId="270"/>
        </pc:sldMkLst>
        <pc:spChg chg="mod">
          <ac:chgData name="Manikutty V" userId="628e5e0cfbdd8151" providerId="LiveId" clId="{26D72D79-F536-4A9D-9A44-F6C3FFB636D0}" dt="2026-02-16T15:59:25.483" v="252"/>
          <ac:spMkLst>
            <pc:docMk/>
            <pc:sldMk cId="2076285390" sldId="270"/>
            <ac:spMk id="2" creationId="{3F17C6DE-D059-7182-0F97-42966C9D5322}"/>
          </ac:spMkLst>
        </pc:spChg>
        <pc:spChg chg="del">
          <ac:chgData name="Manikutty V" userId="628e5e0cfbdd8151" providerId="LiveId" clId="{26D72D79-F536-4A9D-9A44-F6C3FFB636D0}" dt="2026-02-16T15:55:53.334" v="154" actId="22"/>
          <ac:spMkLst>
            <pc:docMk/>
            <pc:sldMk cId="2076285390" sldId="270"/>
            <ac:spMk id="3" creationId="{728D5E6B-3870-7633-40D3-C844304764C0}"/>
          </ac:spMkLst>
        </pc:spChg>
        <pc:spChg chg="add mod">
          <ac:chgData name="Manikutty V" userId="628e5e0cfbdd8151" providerId="LiveId" clId="{26D72D79-F536-4A9D-9A44-F6C3FFB636D0}" dt="2026-02-16T16:00:55.245" v="266" actId="1076"/>
          <ac:spMkLst>
            <pc:docMk/>
            <pc:sldMk cId="2076285390" sldId="270"/>
            <ac:spMk id="7" creationId="{4A05AD73-3C51-02DB-C443-3003538C60BA}"/>
          </ac:spMkLst>
        </pc:spChg>
        <pc:picChg chg="add mod ord">
          <ac:chgData name="Manikutty V" userId="628e5e0cfbdd8151" providerId="LiveId" clId="{26D72D79-F536-4A9D-9A44-F6C3FFB636D0}" dt="2026-02-16T16:00:00.993" v="255" actId="14100"/>
          <ac:picMkLst>
            <pc:docMk/>
            <pc:sldMk cId="2076285390" sldId="270"/>
            <ac:picMk id="5" creationId="{F5E05185-5C69-A2EF-3FC7-0168B18132CE}"/>
          </ac:picMkLst>
        </pc:picChg>
      </pc:sldChg>
      <pc:sldChg chg="addSp delSp modSp new mod">
        <pc:chgData name="Manikutty V" userId="628e5e0cfbdd8151" providerId="LiveId" clId="{26D72D79-F536-4A9D-9A44-F6C3FFB636D0}" dt="2026-02-16T16:21:08.017" v="361"/>
        <pc:sldMkLst>
          <pc:docMk/>
          <pc:sldMk cId="1247917040" sldId="271"/>
        </pc:sldMkLst>
        <pc:spChg chg="mod">
          <ac:chgData name="Manikutty V" userId="628e5e0cfbdd8151" providerId="LiveId" clId="{26D72D79-F536-4A9D-9A44-F6C3FFB636D0}" dt="2026-02-16T16:17:17.263" v="297"/>
          <ac:spMkLst>
            <pc:docMk/>
            <pc:sldMk cId="1247917040" sldId="271"/>
            <ac:spMk id="2" creationId="{9D60FA4C-7784-DFCF-A06A-A4016C9FB993}"/>
          </ac:spMkLst>
        </pc:spChg>
        <pc:spChg chg="del">
          <ac:chgData name="Manikutty V" userId="628e5e0cfbdd8151" providerId="LiveId" clId="{26D72D79-F536-4A9D-9A44-F6C3FFB636D0}" dt="2026-02-16T16:14:50.440" v="268" actId="22"/>
          <ac:spMkLst>
            <pc:docMk/>
            <pc:sldMk cId="1247917040" sldId="271"/>
            <ac:spMk id="3" creationId="{CDD9E593-4844-5C92-5779-17E0AFD37EAD}"/>
          </ac:spMkLst>
        </pc:spChg>
        <pc:spChg chg="add mod">
          <ac:chgData name="Manikutty V" userId="628e5e0cfbdd8151" providerId="LiveId" clId="{26D72D79-F536-4A9D-9A44-F6C3FFB636D0}" dt="2026-02-16T16:18:58.424" v="310" actId="1076"/>
          <ac:spMkLst>
            <pc:docMk/>
            <pc:sldMk cId="1247917040" sldId="271"/>
            <ac:spMk id="7" creationId="{86FB550C-D155-3D2F-8FE0-D86329610467}"/>
          </ac:spMkLst>
        </pc:spChg>
        <pc:picChg chg="add mod ord">
          <ac:chgData name="Manikutty V" userId="628e5e0cfbdd8151" providerId="LiveId" clId="{26D72D79-F536-4A9D-9A44-F6C3FFB636D0}" dt="2026-02-16T16:21:08.017" v="361"/>
          <ac:picMkLst>
            <pc:docMk/>
            <pc:sldMk cId="1247917040" sldId="271"/>
            <ac:picMk id="5" creationId="{229667B2-F1FA-9E7E-5DC4-346CAC363A90}"/>
          </ac:picMkLst>
        </pc:picChg>
      </pc:sldChg>
      <pc:sldChg chg="addSp delSp modSp new mod">
        <pc:chgData name="Manikutty V" userId="628e5e0cfbdd8151" providerId="LiveId" clId="{26D72D79-F536-4A9D-9A44-F6C3FFB636D0}" dt="2026-02-16T16:25:26.655" v="381" actId="2710"/>
        <pc:sldMkLst>
          <pc:docMk/>
          <pc:sldMk cId="3636745365" sldId="272"/>
        </pc:sldMkLst>
        <pc:spChg chg="mod">
          <ac:chgData name="Manikutty V" userId="628e5e0cfbdd8151" providerId="LiveId" clId="{26D72D79-F536-4A9D-9A44-F6C3FFB636D0}" dt="2026-02-16T16:24:02.840" v="370"/>
          <ac:spMkLst>
            <pc:docMk/>
            <pc:sldMk cId="3636745365" sldId="272"/>
            <ac:spMk id="2" creationId="{6871A564-2A60-FA2A-E355-09B9FB7A552B}"/>
          </ac:spMkLst>
        </pc:spChg>
        <pc:spChg chg="del">
          <ac:chgData name="Manikutty V" userId="628e5e0cfbdd8151" providerId="LiveId" clId="{26D72D79-F536-4A9D-9A44-F6C3FFB636D0}" dt="2026-02-16T16:22:38.625" v="363" actId="22"/>
          <ac:spMkLst>
            <pc:docMk/>
            <pc:sldMk cId="3636745365" sldId="272"/>
            <ac:spMk id="3" creationId="{407785EF-060F-2B78-0FAD-276F27E78FBB}"/>
          </ac:spMkLst>
        </pc:spChg>
        <pc:spChg chg="add mod">
          <ac:chgData name="Manikutty V" userId="628e5e0cfbdd8151" providerId="LiveId" clId="{26D72D79-F536-4A9D-9A44-F6C3FFB636D0}" dt="2026-02-16T16:25:26.655" v="381" actId="2710"/>
          <ac:spMkLst>
            <pc:docMk/>
            <pc:sldMk cId="3636745365" sldId="272"/>
            <ac:spMk id="7" creationId="{C58700DB-E9B6-B306-E409-491E25CAB223}"/>
          </ac:spMkLst>
        </pc:spChg>
        <pc:picChg chg="add mod ord">
          <ac:chgData name="Manikutty V" userId="628e5e0cfbdd8151" providerId="LiveId" clId="{26D72D79-F536-4A9D-9A44-F6C3FFB636D0}" dt="2026-02-16T16:23:14.534" v="369" actId="14100"/>
          <ac:picMkLst>
            <pc:docMk/>
            <pc:sldMk cId="3636745365" sldId="272"/>
            <ac:picMk id="5" creationId="{6B96EF85-D6AD-EC90-64DE-2881A4E954BA}"/>
          </ac:picMkLst>
        </pc:picChg>
      </pc:sldChg>
      <pc:sldChg chg="addSp delSp modSp new mod">
        <pc:chgData name="Manikutty V" userId="628e5e0cfbdd8151" providerId="LiveId" clId="{26D72D79-F536-4A9D-9A44-F6C3FFB636D0}" dt="2026-02-17T14:44:18.546" v="411"/>
        <pc:sldMkLst>
          <pc:docMk/>
          <pc:sldMk cId="3871130980" sldId="273"/>
        </pc:sldMkLst>
        <pc:spChg chg="mod">
          <ac:chgData name="Manikutty V" userId="628e5e0cfbdd8151" providerId="LiveId" clId="{26D72D79-F536-4A9D-9A44-F6C3FFB636D0}" dt="2026-02-17T14:44:18.546" v="411"/>
          <ac:spMkLst>
            <pc:docMk/>
            <pc:sldMk cId="3871130980" sldId="273"/>
            <ac:spMk id="2" creationId="{05EE2132-A160-7F48-7C34-701103FE3EFD}"/>
          </ac:spMkLst>
        </pc:spChg>
        <pc:spChg chg="del">
          <ac:chgData name="Manikutty V" userId="628e5e0cfbdd8151" providerId="LiveId" clId="{26D72D79-F536-4A9D-9A44-F6C3FFB636D0}" dt="2026-02-16T16:26:54.015" v="383" actId="22"/>
          <ac:spMkLst>
            <pc:docMk/>
            <pc:sldMk cId="3871130980" sldId="273"/>
            <ac:spMk id="3" creationId="{F44E6A72-6F0E-21DD-2DD7-0883C5EA435B}"/>
          </ac:spMkLst>
        </pc:spChg>
        <pc:spChg chg="add mod">
          <ac:chgData name="Manikutty V" userId="628e5e0cfbdd8151" providerId="LiveId" clId="{26D72D79-F536-4A9D-9A44-F6C3FFB636D0}" dt="2026-02-16T16:31:21.519" v="409" actId="1076"/>
          <ac:spMkLst>
            <pc:docMk/>
            <pc:sldMk cId="3871130980" sldId="273"/>
            <ac:spMk id="6" creationId="{F1C00AC2-B343-8550-478A-A87D41FB3596}"/>
          </ac:spMkLst>
        </pc:spChg>
        <pc:picChg chg="add mod ord">
          <ac:chgData name="Manikutty V" userId="628e5e0cfbdd8151" providerId="LiveId" clId="{26D72D79-F536-4A9D-9A44-F6C3FFB636D0}" dt="2026-02-16T16:31:29.012" v="410" actId="14100"/>
          <ac:picMkLst>
            <pc:docMk/>
            <pc:sldMk cId="3871130980" sldId="273"/>
            <ac:picMk id="5" creationId="{74E8B9FC-9BD1-735D-60E7-194961DC8780}"/>
          </ac:picMkLst>
        </pc:picChg>
      </pc:sldChg>
      <pc:sldChg chg="modSp new mod">
        <pc:chgData name="Manikutty V" userId="628e5e0cfbdd8151" providerId="LiveId" clId="{26D72D79-F536-4A9D-9A44-F6C3FFB636D0}" dt="2026-02-17T16:05:36.809" v="425" actId="20577"/>
        <pc:sldMkLst>
          <pc:docMk/>
          <pc:sldMk cId="569478487" sldId="274"/>
        </pc:sldMkLst>
        <pc:spChg chg="mod">
          <ac:chgData name="Manikutty V" userId="628e5e0cfbdd8151" providerId="LiveId" clId="{26D72D79-F536-4A9D-9A44-F6C3FFB636D0}" dt="2026-02-17T16:05:36.809" v="425" actId="20577"/>
          <ac:spMkLst>
            <pc:docMk/>
            <pc:sldMk cId="569478487" sldId="274"/>
            <ac:spMk id="2" creationId="{C5800DD5-E10F-57E5-7CDD-5C2498B05789}"/>
          </ac:spMkLst>
        </pc:spChg>
        <pc:spChg chg="mod">
          <ac:chgData name="Manikutty V" userId="628e5e0cfbdd8151" providerId="LiveId" clId="{26D72D79-F536-4A9D-9A44-F6C3FFB636D0}" dt="2026-02-17T15:52:48.105" v="418" actId="207"/>
          <ac:spMkLst>
            <pc:docMk/>
            <pc:sldMk cId="569478487" sldId="274"/>
            <ac:spMk id="3" creationId="{564A9C77-A29E-B09C-980E-ED40F6C6D193}"/>
          </ac:spMkLst>
        </pc:spChg>
      </pc:sldChg>
      <pc:sldChg chg="modSp new mod">
        <pc:chgData name="Manikutty V" userId="628e5e0cfbdd8151" providerId="LiveId" clId="{26D72D79-F536-4A9D-9A44-F6C3FFB636D0}" dt="2026-02-17T16:06:44.275" v="429" actId="207"/>
        <pc:sldMkLst>
          <pc:docMk/>
          <pc:sldMk cId="1717750914" sldId="275"/>
        </pc:sldMkLst>
        <pc:spChg chg="mod">
          <ac:chgData name="Manikutty V" userId="628e5e0cfbdd8151" providerId="LiveId" clId="{26D72D79-F536-4A9D-9A44-F6C3FFB636D0}" dt="2026-02-17T16:05:29.255" v="424"/>
          <ac:spMkLst>
            <pc:docMk/>
            <pc:sldMk cId="1717750914" sldId="275"/>
            <ac:spMk id="2" creationId="{B53E5586-9396-C111-C7ED-6C5B8A5F8705}"/>
          </ac:spMkLst>
        </pc:spChg>
        <pc:spChg chg="mod">
          <ac:chgData name="Manikutty V" userId="628e5e0cfbdd8151" providerId="LiveId" clId="{26D72D79-F536-4A9D-9A44-F6C3FFB636D0}" dt="2026-02-17T16:06:44.275" v="429" actId="207"/>
          <ac:spMkLst>
            <pc:docMk/>
            <pc:sldMk cId="1717750914" sldId="275"/>
            <ac:spMk id="3" creationId="{8BBEEDB4-A4D1-4EEF-69F9-6680E3056BD3}"/>
          </ac:spMkLst>
        </pc:spChg>
      </pc:sldChg>
      <pc:sldChg chg="addSp delSp modSp new mod">
        <pc:chgData name="Manikutty V" userId="628e5e0cfbdd8151" providerId="LiveId" clId="{26D72D79-F536-4A9D-9A44-F6C3FFB636D0}" dt="2026-02-17T16:12:33.170" v="460" actId="20577"/>
        <pc:sldMkLst>
          <pc:docMk/>
          <pc:sldMk cId="3967840270" sldId="276"/>
        </pc:sldMkLst>
        <pc:spChg chg="mod">
          <ac:chgData name="Manikutty V" userId="628e5e0cfbdd8151" providerId="LiveId" clId="{26D72D79-F536-4A9D-9A44-F6C3FFB636D0}" dt="2026-02-17T16:08:02.272" v="431"/>
          <ac:spMkLst>
            <pc:docMk/>
            <pc:sldMk cId="3967840270" sldId="276"/>
            <ac:spMk id="2" creationId="{91FBA03B-BCB8-9C0E-14E8-CDBF79FDD562}"/>
          </ac:spMkLst>
        </pc:spChg>
        <pc:spChg chg="add del">
          <ac:chgData name="Manikutty V" userId="628e5e0cfbdd8151" providerId="LiveId" clId="{26D72D79-F536-4A9D-9A44-F6C3FFB636D0}" dt="2026-02-17T16:08:40.485" v="434"/>
          <ac:spMkLst>
            <pc:docMk/>
            <pc:sldMk cId="3967840270" sldId="276"/>
            <ac:spMk id="3" creationId="{1CF9F21E-BEFB-7E28-DFCE-3380AFAA3C27}"/>
          </ac:spMkLst>
        </pc:spChg>
        <pc:spChg chg="add mod">
          <ac:chgData name="Manikutty V" userId="628e5e0cfbdd8151" providerId="LiveId" clId="{26D72D79-F536-4A9D-9A44-F6C3FFB636D0}" dt="2026-02-17T16:08:37.367" v="433"/>
          <ac:spMkLst>
            <pc:docMk/>
            <pc:sldMk cId="3967840270" sldId="276"/>
            <ac:spMk id="4" creationId="{DBBB6ACF-F897-15F7-7019-D4AA0ED9120D}"/>
          </ac:spMkLst>
        </pc:spChg>
        <pc:spChg chg="add mod">
          <ac:chgData name="Manikutty V" userId="628e5e0cfbdd8151" providerId="LiveId" clId="{26D72D79-F536-4A9D-9A44-F6C3FFB636D0}" dt="2026-02-17T16:12:33.170" v="460" actId="20577"/>
          <ac:spMkLst>
            <pc:docMk/>
            <pc:sldMk cId="3967840270" sldId="276"/>
            <ac:spMk id="5" creationId="{711EDA4F-B6E7-DCE2-9298-7898E8306F90}"/>
          </ac:spMkLst>
        </pc:spChg>
      </pc:sldChg>
      <pc:sldChg chg="modSp new mod">
        <pc:chgData name="Manikutty V" userId="628e5e0cfbdd8151" providerId="LiveId" clId="{26D72D79-F536-4A9D-9A44-F6C3FFB636D0}" dt="2026-02-17T16:11:32.909" v="451" actId="12"/>
        <pc:sldMkLst>
          <pc:docMk/>
          <pc:sldMk cId="381794568" sldId="277"/>
        </pc:sldMkLst>
        <pc:spChg chg="mod">
          <ac:chgData name="Manikutty V" userId="628e5e0cfbdd8151" providerId="LiveId" clId="{26D72D79-F536-4A9D-9A44-F6C3FFB636D0}" dt="2026-02-17T16:10:52.640" v="447"/>
          <ac:spMkLst>
            <pc:docMk/>
            <pc:sldMk cId="381794568" sldId="277"/>
            <ac:spMk id="2" creationId="{D931BB6D-4BF6-CBDB-83D7-8D862DEF3653}"/>
          </ac:spMkLst>
        </pc:spChg>
        <pc:spChg chg="mod">
          <ac:chgData name="Manikutty V" userId="628e5e0cfbdd8151" providerId="LiveId" clId="{26D72D79-F536-4A9D-9A44-F6C3FFB636D0}" dt="2026-02-17T16:11:32.909" v="451" actId="12"/>
          <ac:spMkLst>
            <pc:docMk/>
            <pc:sldMk cId="381794568" sldId="277"/>
            <ac:spMk id="3" creationId="{28152776-F1D7-38CB-C9D1-5925C6568460}"/>
          </ac:spMkLst>
        </pc:spChg>
      </pc:sldChg>
      <pc:sldChg chg="addSp delSp modSp new del">
        <pc:chgData name="Manikutty V" userId="628e5e0cfbdd8151" providerId="LiveId" clId="{26D72D79-F536-4A9D-9A44-F6C3FFB636D0}" dt="2026-02-17T16:12:31.372" v="458" actId="680"/>
        <pc:sldMkLst>
          <pc:docMk/>
          <pc:sldMk cId="1946630919" sldId="278"/>
        </pc:sldMkLst>
        <pc:spChg chg="add del mod">
          <ac:chgData name="Manikutty V" userId="628e5e0cfbdd8151" providerId="LiveId" clId="{26D72D79-F536-4A9D-9A44-F6C3FFB636D0}" dt="2026-02-17T16:12:30.595" v="457"/>
          <ac:spMkLst>
            <pc:docMk/>
            <pc:sldMk cId="1946630919" sldId="278"/>
            <ac:spMk id="3" creationId="{D6289A45-84A0-65DD-8F2B-44AAEFC6BD9A}"/>
          </ac:spMkLst>
        </pc:spChg>
        <pc:spChg chg="add mod">
          <ac:chgData name="Manikutty V" userId="628e5e0cfbdd8151" providerId="LiveId" clId="{26D72D79-F536-4A9D-9A44-F6C3FFB636D0}" dt="2026-02-17T16:12:30.595" v="457"/>
          <ac:spMkLst>
            <pc:docMk/>
            <pc:sldMk cId="1946630919" sldId="278"/>
            <ac:spMk id="4" creationId="{03554773-CC62-A832-39E0-F31C93B99D05}"/>
          </ac:spMkLst>
        </pc:spChg>
      </pc:sldChg>
      <pc:sldChg chg="modSp new mod">
        <pc:chgData name="Manikutty V" userId="628e5e0cfbdd8151" providerId="LiveId" clId="{26D72D79-F536-4A9D-9A44-F6C3FFB636D0}" dt="2026-02-17T16:17:48.873" v="466" actId="207"/>
        <pc:sldMkLst>
          <pc:docMk/>
          <pc:sldMk cId="3336248536" sldId="278"/>
        </pc:sldMkLst>
        <pc:spChg chg="mod">
          <ac:chgData name="Manikutty V" userId="628e5e0cfbdd8151" providerId="LiveId" clId="{26D72D79-F536-4A9D-9A44-F6C3FFB636D0}" dt="2026-02-17T16:14:46.881" v="462"/>
          <ac:spMkLst>
            <pc:docMk/>
            <pc:sldMk cId="3336248536" sldId="278"/>
            <ac:spMk id="2" creationId="{CAC24D54-4619-EC49-0F30-390D3C096386}"/>
          </ac:spMkLst>
        </pc:spChg>
        <pc:spChg chg="mod">
          <ac:chgData name="Manikutty V" userId="628e5e0cfbdd8151" providerId="LiveId" clId="{26D72D79-F536-4A9D-9A44-F6C3FFB636D0}" dt="2026-02-17T16:17:48.873" v="466" actId="207"/>
          <ac:spMkLst>
            <pc:docMk/>
            <pc:sldMk cId="3336248536" sldId="278"/>
            <ac:spMk id="3" creationId="{5433CF14-AB47-CC99-3FDD-E431FCEC4436}"/>
          </ac:spMkLst>
        </pc:spChg>
      </pc:sldChg>
      <pc:sldChg chg="addSp delSp modSp new mod">
        <pc:chgData name="Manikutty V" userId="628e5e0cfbdd8151" providerId="LiveId" clId="{26D72D79-F536-4A9D-9A44-F6C3FFB636D0}" dt="2026-02-17T16:22:08.139" v="509" actId="20577"/>
        <pc:sldMkLst>
          <pc:docMk/>
          <pc:sldMk cId="2602186389" sldId="279"/>
        </pc:sldMkLst>
        <pc:spChg chg="mod">
          <ac:chgData name="Manikutty V" userId="628e5e0cfbdd8151" providerId="LiveId" clId="{26D72D79-F536-4A9D-9A44-F6C3FFB636D0}" dt="2026-02-17T16:22:08.139" v="509" actId="20577"/>
          <ac:spMkLst>
            <pc:docMk/>
            <pc:sldMk cId="2602186389" sldId="279"/>
            <ac:spMk id="2" creationId="{BE7F0C5A-7D58-5886-1BA3-FC8BF51E52D5}"/>
          </ac:spMkLst>
        </pc:spChg>
        <pc:spChg chg="del">
          <ac:chgData name="Manikutty V" userId="628e5e0cfbdd8151" providerId="LiveId" clId="{26D72D79-F536-4A9D-9A44-F6C3FFB636D0}" dt="2026-02-17T16:20:25.686" v="468" actId="22"/>
          <ac:spMkLst>
            <pc:docMk/>
            <pc:sldMk cId="2602186389" sldId="279"/>
            <ac:spMk id="3" creationId="{2B8D0B99-FD5E-DF9F-A716-10F538D7C355}"/>
          </ac:spMkLst>
        </pc:spChg>
        <pc:picChg chg="add mod ord modCrop">
          <ac:chgData name="Manikutty V" userId="628e5e0cfbdd8151" providerId="LiveId" clId="{26D72D79-F536-4A9D-9A44-F6C3FFB636D0}" dt="2026-02-17T16:21:36.307" v="480" actId="1076"/>
          <ac:picMkLst>
            <pc:docMk/>
            <pc:sldMk cId="2602186389" sldId="279"/>
            <ac:picMk id="5" creationId="{F858F92B-2E45-9D70-53E5-E1357ECB8828}"/>
          </ac:picMkLst>
        </pc:picChg>
      </pc:sldChg>
      <pc:sldChg chg="addSp delSp modSp new mod">
        <pc:chgData name="Manikutty V" userId="628e5e0cfbdd8151" providerId="LiveId" clId="{26D72D79-F536-4A9D-9A44-F6C3FFB636D0}" dt="2026-02-17T16:26:30.316" v="551" actId="14100"/>
        <pc:sldMkLst>
          <pc:docMk/>
          <pc:sldMk cId="1761250895" sldId="280"/>
        </pc:sldMkLst>
        <pc:spChg chg="mod">
          <ac:chgData name="Manikutty V" userId="628e5e0cfbdd8151" providerId="LiveId" clId="{26D72D79-F536-4A9D-9A44-F6C3FFB636D0}" dt="2026-02-17T16:26:15.849" v="550" actId="20577"/>
          <ac:spMkLst>
            <pc:docMk/>
            <pc:sldMk cId="1761250895" sldId="280"/>
            <ac:spMk id="2" creationId="{4457B8BB-C124-A08B-7431-9F607CD35207}"/>
          </ac:spMkLst>
        </pc:spChg>
        <pc:spChg chg="del">
          <ac:chgData name="Manikutty V" userId="628e5e0cfbdd8151" providerId="LiveId" clId="{26D72D79-F536-4A9D-9A44-F6C3FFB636D0}" dt="2026-02-17T16:24:55.354" v="511" actId="22"/>
          <ac:spMkLst>
            <pc:docMk/>
            <pc:sldMk cId="1761250895" sldId="280"/>
            <ac:spMk id="3" creationId="{D8599DCD-6165-0016-BD01-97AD3878E0C5}"/>
          </ac:spMkLst>
        </pc:spChg>
        <pc:picChg chg="add mod ord">
          <ac:chgData name="Manikutty V" userId="628e5e0cfbdd8151" providerId="LiveId" clId="{26D72D79-F536-4A9D-9A44-F6C3FFB636D0}" dt="2026-02-17T16:26:30.316" v="551" actId="14100"/>
          <ac:picMkLst>
            <pc:docMk/>
            <pc:sldMk cId="1761250895" sldId="280"/>
            <ac:picMk id="5" creationId="{34C3FD6C-EACE-5388-7540-EB7833E8EB29}"/>
          </ac:picMkLst>
        </pc:picChg>
      </pc:sldChg>
      <pc:sldChg chg="modSp new mod">
        <pc:chgData name="Manikutty V" userId="628e5e0cfbdd8151" providerId="LiveId" clId="{26D72D79-F536-4A9D-9A44-F6C3FFB636D0}" dt="2026-02-17T16:37:46.608" v="574" actId="207"/>
        <pc:sldMkLst>
          <pc:docMk/>
          <pc:sldMk cId="3344849771" sldId="281"/>
        </pc:sldMkLst>
        <pc:spChg chg="mod">
          <ac:chgData name="Manikutty V" userId="628e5e0cfbdd8151" providerId="LiveId" clId="{26D72D79-F536-4A9D-9A44-F6C3FFB636D0}" dt="2026-02-17T16:33:58.814" v="557" actId="255"/>
          <ac:spMkLst>
            <pc:docMk/>
            <pc:sldMk cId="3344849771" sldId="281"/>
            <ac:spMk id="2" creationId="{B054F078-CBFF-E215-2062-0D1E56C269E0}"/>
          </ac:spMkLst>
        </pc:spChg>
        <pc:spChg chg="mod">
          <ac:chgData name="Manikutty V" userId="628e5e0cfbdd8151" providerId="LiveId" clId="{26D72D79-F536-4A9D-9A44-F6C3FFB636D0}" dt="2026-02-17T16:37:46.608" v="574" actId="207"/>
          <ac:spMkLst>
            <pc:docMk/>
            <pc:sldMk cId="3344849771" sldId="281"/>
            <ac:spMk id="3" creationId="{D14CC24C-2A31-E63F-12D1-E4EF06998DA7}"/>
          </ac:spMkLst>
        </pc:spChg>
      </pc:sldChg>
      <pc:sldChg chg="new del">
        <pc:chgData name="Manikutty V" userId="628e5e0cfbdd8151" providerId="LiveId" clId="{26D72D79-F536-4A9D-9A44-F6C3FFB636D0}" dt="2026-02-17T16:25:48.018" v="519" actId="2696"/>
        <pc:sldMkLst>
          <pc:docMk/>
          <pc:sldMk cId="3938305104" sldId="281"/>
        </pc:sldMkLst>
      </pc:sldChg>
      <pc:sldChg chg="modSp new mod">
        <pc:chgData name="Manikutty V" userId="628e5e0cfbdd8151" providerId="LiveId" clId="{26D72D79-F536-4A9D-9A44-F6C3FFB636D0}" dt="2026-02-17T17:00:58.874" v="589" actId="14100"/>
        <pc:sldMkLst>
          <pc:docMk/>
          <pc:sldMk cId="4027126339" sldId="282"/>
        </pc:sldMkLst>
        <pc:spChg chg="mod">
          <ac:chgData name="Manikutty V" userId="628e5e0cfbdd8151" providerId="LiveId" clId="{26D72D79-F536-4A9D-9A44-F6C3FFB636D0}" dt="2026-02-17T16:56:52.767" v="576"/>
          <ac:spMkLst>
            <pc:docMk/>
            <pc:sldMk cId="4027126339" sldId="282"/>
            <ac:spMk id="2" creationId="{461E0E6E-9B3B-32F2-57B0-6F9ADE7158C8}"/>
          </ac:spMkLst>
        </pc:spChg>
        <pc:spChg chg="mod">
          <ac:chgData name="Manikutty V" userId="628e5e0cfbdd8151" providerId="LiveId" clId="{26D72D79-F536-4A9D-9A44-F6C3FFB636D0}" dt="2026-02-17T17:00:58.874" v="589" actId="14100"/>
          <ac:spMkLst>
            <pc:docMk/>
            <pc:sldMk cId="4027126339" sldId="282"/>
            <ac:spMk id="3" creationId="{5A7470D9-73EA-1F4A-8024-8A533EDDE5DE}"/>
          </ac:spMkLst>
        </pc:spChg>
      </pc:sldChg>
      <pc:sldChg chg="modSp new mod">
        <pc:chgData name="Manikutty V" userId="628e5e0cfbdd8151" providerId="LiveId" clId="{26D72D79-F536-4A9D-9A44-F6C3FFB636D0}" dt="2026-02-17T17:05:03.881" v="599" actId="20577"/>
        <pc:sldMkLst>
          <pc:docMk/>
          <pc:sldMk cId="3035903892" sldId="283"/>
        </pc:sldMkLst>
        <pc:spChg chg="mod">
          <ac:chgData name="Manikutty V" userId="628e5e0cfbdd8151" providerId="LiveId" clId="{26D72D79-F536-4A9D-9A44-F6C3FFB636D0}" dt="2026-02-17T17:04:07.765" v="591"/>
          <ac:spMkLst>
            <pc:docMk/>
            <pc:sldMk cId="3035903892" sldId="283"/>
            <ac:spMk id="2" creationId="{AB36E31D-335E-1D17-F1C5-AE54CEB3B54A}"/>
          </ac:spMkLst>
        </pc:spChg>
        <pc:spChg chg="mod">
          <ac:chgData name="Manikutty V" userId="628e5e0cfbdd8151" providerId="LiveId" clId="{26D72D79-F536-4A9D-9A44-F6C3FFB636D0}" dt="2026-02-17T17:05:03.881" v="599" actId="20577"/>
          <ac:spMkLst>
            <pc:docMk/>
            <pc:sldMk cId="3035903892" sldId="283"/>
            <ac:spMk id="3" creationId="{CA1DAD94-DCDB-965F-655A-668045AC673C}"/>
          </ac:spMkLst>
        </pc:spChg>
      </pc:sldChg>
      <pc:sldChg chg="addSp delSp modSp new mod">
        <pc:chgData name="Manikutty V" userId="628e5e0cfbdd8151" providerId="LiveId" clId="{26D72D79-F536-4A9D-9A44-F6C3FFB636D0}" dt="2026-02-17T17:15:04.905" v="622" actId="113"/>
        <pc:sldMkLst>
          <pc:docMk/>
          <pc:sldMk cId="3024358469" sldId="284"/>
        </pc:sldMkLst>
        <pc:spChg chg="mod">
          <ac:chgData name="Manikutty V" userId="628e5e0cfbdd8151" providerId="LiveId" clId="{26D72D79-F536-4A9D-9A44-F6C3FFB636D0}" dt="2026-02-17T17:13:05.248" v="607" actId="20577"/>
          <ac:spMkLst>
            <pc:docMk/>
            <pc:sldMk cId="3024358469" sldId="284"/>
            <ac:spMk id="2" creationId="{B5274AB9-22A4-71D0-EFBF-1CF33D601228}"/>
          </ac:spMkLst>
        </pc:spChg>
        <pc:spChg chg="del">
          <ac:chgData name="Manikutty V" userId="628e5e0cfbdd8151" providerId="LiveId" clId="{26D72D79-F536-4A9D-9A44-F6C3FFB636D0}" dt="2026-02-17T17:13:32.337" v="608"/>
          <ac:spMkLst>
            <pc:docMk/>
            <pc:sldMk cId="3024358469" sldId="284"/>
            <ac:spMk id="3" creationId="{9290D84C-F18D-320D-78FC-BAA31791DB8F}"/>
          </ac:spMkLst>
        </pc:spChg>
        <pc:spChg chg="add mod">
          <ac:chgData name="Manikutty V" userId="628e5e0cfbdd8151" providerId="LiveId" clId="{26D72D79-F536-4A9D-9A44-F6C3FFB636D0}" dt="2026-02-17T17:15:04.905" v="622" actId="113"/>
          <ac:spMkLst>
            <pc:docMk/>
            <pc:sldMk cId="3024358469" sldId="284"/>
            <ac:spMk id="4" creationId="{01A5A3DB-2F52-F941-7623-A0B976995C1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2/17/2026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394234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29135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095801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79367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02791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942716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8917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06214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3491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270590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2/17/2026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85292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2/17/2026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7936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0291-CE95-A753-61D4-0B8AF1DED210}"/>
              </a:ext>
            </a:extLst>
          </p:cNvPr>
          <p:cNvSpPr>
            <a:spLocks noGrp="1"/>
          </p:cNvSpPr>
          <p:nvPr>
            <p:ph type="ctrTitle"/>
          </p:nvPr>
        </p:nvSpPr>
        <p:spPr/>
        <p:txBody>
          <a:bodyPr>
            <a:normAutofit/>
          </a:bodyPr>
          <a:lstStyle/>
          <a:p>
            <a:r>
              <a:rPr lang="en-US" sz="4400" dirty="0"/>
              <a:t>Bank Loan &amp; Transaction Analysis Report</a:t>
            </a:r>
            <a:endParaRPr lang="en-IN" sz="4400" dirty="0"/>
          </a:p>
        </p:txBody>
      </p:sp>
      <p:sp>
        <p:nvSpPr>
          <p:cNvPr id="3" name="Subtitle 2">
            <a:extLst>
              <a:ext uri="{FF2B5EF4-FFF2-40B4-BE49-F238E27FC236}">
                <a16:creationId xmlns:a16="http://schemas.microsoft.com/office/drawing/2014/main" id="{FEBCDE72-8056-AE13-0328-91E40636DF27}"/>
              </a:ext>
            </a:extLst>
          </p:cNvPr>
          <p:cNvSpPr>
            <a:spLocks noGrp="1"/>
          </p:cNvSpPr>
          <p:nvPr>
            <p:ph type="subTitle" idx="1"/>
          </p:nvPr>
        </p:nvSpPr>
        <p:spPr/>
        <p:txBody>
          <a:bodyPr/>
          <a:lstStyle/>
          <a:p>
            <a:r>
              <a:rPr lang="en-US" dirty="0"/>
              <a:t>Performance Evaluation, Risk Assessment, and Dashboard Insights</a:t>
            </a:r>
            <a:endParaRPr lang="en-IN" dirty="0"/>
          </a:p>
        </p:txBody>
      </p:sp>
    </p:spTree>
    <p:extLst>
      <p:ext uri="{BB962C8B-B14F-4D97-AF65-F5344CB8AC3E}">
        <p14:creationId xmlns:p14="http://schemas.microsoft.com/office/powerpoint/2010/main" val="455605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F078-CBFF-E215-2062-0D1E56C269E0}"/>
              </a:ext>
            </a:extLst>
          </p:cNvPr>
          <p:cNvSpPr>
            <a:spLocks noGrp="1"/>
          </p:cNvSpPr>
          <p:nvPr>
            <p:ph type="title"/>
          </p:nvPr>
        </p:nvSpPr>
        <p:spPr/>
        <p:txBody>
          <a:bodyPr>
            <a:normAutofit/>
          </a:bodyPr>
          <a:lstStyle/>
          <a:p>
            <a:r>
              <a:rPr lang="en-IN" sz="3600" dirty="0"/>
              <a:t>Introduction</a:t>
            </a:r>
          </a:p>
        </p:txBody>
      </p:sp>
      <p:sp>
        <p:nvSpPr>
          <p:cNvPr id="3" name="Content Placeholder 2">
            <a:extLst>
              <a:ext uri="{FF2B5EF4-FFF2-40B4-BE49-F238E27FC236}">
                <a16:creationId xmlns:a16="http://schemas.microsoft.com/office/drawing/2014/main" id="{D14CC24C-2A31-E63F-12D1-E4EF06998DA7}"/>
              </a:ext>
            </a:extLst>
          </p:cNvPr>
          <p:cNvSpPr>
            <a:spLocks noGrp="1"/>
          </p:cNvSpPr>
          <p:nvPr>
            <p:ph idx="1"/>
          </p:nvPr>
        </p:nvSpPr>
        <p:spPr>
          <a:xfrm>
            <a:off x="581192" y="1966452"/>
            <a:ext cx="11029615" cy="4189392"/>
          </a:xfrm>
        </p:spPr>
        <p:txBody>
          <a:bodyPr>
            <a:normAutofit lnSpcReduction="10000"/>
          </a:bodyPr>
          <a:lstStyle/>
          <a:p>
            <a:pPr marL="0" indent="0">
              <a:buNone/>
            </a:pPr>
            <a:r>
              <a:rPr lang="en-US" sz="2200" dirty="0">
                <a:solidFill>
                  <a:schemeClr val="tx1"/>
                </a:solidFill>
              </a:rPr>
              <a:t>The Bank Loan &amp; Transaction Analysis Report focuses on analyzing banking data to evaluate portfolio performance, transaction behavior, and risk exposure. The objective of this project is to transform raw banking data into meaningful insights that support data-driven decision-making.</a:t>
            </a:r>
          </a:p>
          <a:p>
            <a:pPr marL="0" indent="0">
              <a:buNone/>
            </a:pPr>
            <a:r>
              <a:rPr lang="en-US" sz="2200" dirty="0">
                <a:solidFill>
                  <a:schemeClr val="tx1"/>
                </a:solidFill>
              </a:rPr>
              <a:t>This project covers two major analytical areas:</a:t>
            </a:r>
          </a:p>
          <a:p>
            <a:pPr>
              <a:buFont typeface="Wingdings" panose="05000000000000000000" pitchFamily="2" charset="2"/>
              <a:buChar char="Ø"/>
            </a:pPr>
            <a:r>
              <a:rPr lang="en-US" sz="2200" dirty="0">
                <a:solidFill>
                  <a:schemeClr val="tx1"/>
                </a:solidFill>
              </a:rPr>
              <a:t>Loan Portfolio Analysis – assessing loan disbursement, repayment performance, risk indicators, product distribution, and demographic segmentation.</a:t>
            </a:r>
          </a:p>
          <a:p>
            <a:pPr>
              <a:buFont typeface="Wingdings" panose="05000000000000000000" pitchFamily="2" charset="2"/>
              <a:buChar char="Ø"/>
            </a:pPr>
            <a:r>
              <a:rPr lang="en-US" sz="2200" dirty="0">
                <a:solidFill>
                  <a:schemeClr val="tx1"/>
                </a:solidFill>
              </a:rPr>
              <a:t>Debit &amp; Credit Transaction Analysis – evaluating financial flow, transaction trends, branch performance, and high-risk transaction monitoring.</a:t>
            </a:r>
          </a:p>
          <a:p>
            <a:pPr marL="0" indent="0">
              <a:buNone/>
            </a:pPr>
            <a:r>
              <a:rPr lang="en-US" sz="2200" dirty="0">
                <a:solidFill>
                  <a:schemeClr val="tx1"/>
                </a:solidFill>
              </a:rPr>
              <a:t>Using tools such as Excel, MySQL, Tableau, and Power BI, interactive dashboards were developed to visualize key performance indicators (KPIs) and provide actionable business insights.</a:t>
            </a:r>
          </a:p>
          <a:p>
            <a:pPr marL="0" indent="0">
              <a:buNone/>
            </a:pPr>
            <a:endParaRPr lang="en-IN" dirty="0"/>
          </a:p>
        </p:txBody>
      </p:sp>
    </p:spTree>
    <p:extLst>
      <p:ext uri="{BB962C8B-B14F-4D97-AF65-F5344CB8AC3E}">
        <p14:creationId xmlns:p14="http://schemas.microsoft.com/office/powerpoint/2010/main" val="3344849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E0E6E-9B3B-32F2-57B0-6F9ADE7158C8}"/>
              </a:ext>
            </a:extLst>
          </p:cNvPr>
          <p:cNvSpPr>
            <a:spLocks noGrp="1"/>
          </p:cNvSpPr>
          <p:nvPr>
            <p:ph type="title"/>
          </p:nvPr>
        </p:nvSpPr>
        <p:spPr/>
        <p:txBody>
          <a:bodyPr/>
          <a:lstStyle/>
          <a:p>
            <a:r>
              <a:rPr lang="en-IN" dirty="0"/>
              <a:t>DATA OVERVIEW</a:t>
            </a:r>
          </a:p>
        </p:txBody>
      </p:sp>
      <p:sp>
        <p:nvSpPr>
          <p:cNvPr id="3" name="Content Placeholder 2">
            <a:extLst>
              <a:ext uri="{FF2B5EF4-FFF2-40B4-BE49-F238E27FC236}">
                <a16:creationId xmlns:a16="http://schemas.microsoft.com/office/drawing/2014/main" id="{5A7470D9-73EA-1F4A-8024-8A533EDDE5DE}"/>
              </a:ext>
            </a:extLst>
          </p:cNvPr>
          <p:cNvSpPr>
            <a:spLocks noGrp="1"/>
          </p:cNvSpPr>
          <p:nvPr>
            <p:ph idx="1"/>
          </p:nvPr>
        </p:nvSpPr>
        <p:spPr>
          <a:xfrm>
            <a:off x="581192" y="1877962"/>
            <a:ext cx="11029615" cy="4454012"/>
          </a:xfrm>
        </p:spPr>
        <p:txBody>
          <a:bodyPr>
            <a:noAutofit/>
          </a:bodyPr>
          <a:lstStyle/>
          <a:p>
            <a:pPr>
              <a:buFont typeface="Arial" panose="020B0604020202020204" pitchFamily="34" charset="0"/>
              <a:buChar char="•"/>
            </a:pPr>
            <a:r>
              <a:rPr lang="en-IN" sz="2400" dirty="0"/>
              <a:t>Two datasets used:</a:t>
            </a:r>
            <a:br>
              <a:rPr lang="en-IN" sz="2400" dirty="0"/>
            </a:br>
            <a:r>
              <a:rPr lang="en-IN" sz="2400" dirty="0"/>
              <a:t>• Bank Data Analystics.xlsx (Loan Portfolio Data)</a:t>
            </a:r>
            <a:br>
              <a:rPr lang="en-IN" sz="2400" dirty="0"/>
            </a:br>
            <a:r>
              <a:rPr lang="en-IN" sz="2400" dirty="0"/>
              <a:t>• Debit and Credit banking_data.xlsx (Transaction Data)</a:t>
            </a:r>
          </a:p>
          <a:p>
            <a:pPr>
              <a:buFont typeface="Arial" panose="020B0604020202020204" pitchFamily="34" charset="0"/>
              <a:buChar char="•"/>
            </a:pPr>
            <a:r>
              <a:rPr lang="en-US" sz="2400" dirty="0"/>
              <a:t>The Loan dataset contains customer demographics, loan details, disbursement records, repayment information, credit grades, verification status, and risk indicators.</a:t>
            </a:r>
          </a:p>
          <a:p>
            <a:pPr>
              <a:buFont typeface="Arial" panose="020B0604020202020204" pitchFamily="34" charset="0"/>
              <a:buChar char="•"/>
            </a:pPr>
            <a:r>
              <a:rPr lang="en-US" sz="2400" dirty="0"/>
              <a:t>The Transaction dataset includes customer accounts, transaction date, debit/credit type, amount, balance, branch, bank name, transaction method, and high-value transaction flags.</a:t>
            </a:r>
          </a:p>
          <a:p>
            <a:pPr>
              <a:buFont typeface="Arial" panose="020B0604020202020204" pitchFamily="34" charset="0"/>
              <a:buChar char="•"/>
            </a:pPr>
            <a:r>
              <a:rPr lang="en-US" sz="2400" dirty="0"/>
              <a:t>Data Period: Loan data covers multi-year disbursement records; Transaction data spans January–December (December partial).</a:t>
            </a:r>
            <a:endParaRPr lang="en-IN" sz="2400" dirty="0"/>
          </a:p>
        </p:txBody>
      </p:sp>
    </p:spTree>
    <p:extLst>
      <p:ext uri="{BB962C8B-B14F-4D97-AF65-F5344CB8AC3E}">
        <p14:creationId xmlns:p14="http://schemas.microsoft.com/office/powerpoint/2010/main" val="4027126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E31D-335E-1D17-F1C5-AE54CEB3B54A}"/>
              </a:ext>
            </a:extLst>
          </p:cNvPr>
          <p:cNvSpPr>
            <a:spLocks noGrp="1"/>
          </p:cNvSpPr>
          <p:nvPr>
            <p:ph type="title"/>
          </p:nvPr>
        </p:nvSpPr>
        <p:spPr/>
        <p:txBody>
          <a:bodyPr/>
          <a:lstStyle/>
          <a:p>
            <a:r>
              <a:rPr lang="en-IN" dirty="0"/>
              <a:t>Project Objectives</a:t>
            </a:r>
          </a:p>
        </p:txBody>
      </p:sp>
      <p:sp>
        <p:nvSpPr>
          <p:cNvPr id="3" name="Content Placeholder 2">
            <a:extLst>
              <a:ext uri="{FF2B5EF4-FFF2-40B4-BE49-F238E27FC236}">
                <a16:creationId xmlns:a16="http://schemas.microsoft.com/office/drawing/2014/main" id="{CA1DAD94-DCDB-965F-655A-668045AC673C}"/>
              </a:ext>
            </a:extLst>
          </p:cNvPr>
          <p:cNvSpPr>
            <a:spLocks noGrp="1"/>
          </p:cNvSpPr>
          <p:nvPr>
            <p:ph idx="1"/>
          </p:nvPr>
        </p:nvSpPr>
        <p:spPr/>
        <p:txBody>
          <a:bodyPr>
            <a:normAutofit lnSpcReduction="10000"/>
          </a:bodyPr>
          <a:lstStyle/>
          <a:p>
            <a:pPr>
              <a:buFont typeface="Arial" panose="020B0604020202020204" pitchFamily="34" charset="0"/>
              <a:buChar char="•"/>
            </a:pPr>
            <a:r>
              <a:rPr lang="en-IN" sz="2400" dirty="0">
                <a:solidFill>
                  <a:schemeClr val="tx1"/>
                </a:solidFill>
              </a:rPr>
              <a:t>Analyse loan portfolio performance, including disbursement, repayment, and revenue generation.</a:t>
            </a:r>
          </a:p>
          <a:p>
            <a:pPr>
              <a:buFont typeface="Arial" panose="020B0604020202020204" pitchFamily="34" charset="0"/>
              <a:buChar char="•"/>
            </a:pPr>
            <a:r>
              <a:rPr lang="en-IN" sz="2400" dirty="0">
                <a:solidFill>
                  <a:schemeClr val="tx1"/>
                </a:solidFill>
              </a:rPr>
              <a:t>Evaluate credit risk through default and delinquency analysis.</a:t>
            </a:r>
          </a:p>
          <a:p>
            <a:pPr>
              <a:buFont typeface="Arial" panose="020B0604020202020204" pitchFamily="34" charset="0"/>
              <a:buChar char="•"/>
            </a:pPr>
            <a:r>
              <a:rPr lang="en-IN" sz="2400" dirty="0">
                <a:solidFill>
                  <a:schemeClr val="tx1"/>
                </a:solidFill>
              </a:rPr>
              <a:t>Examine geographic, demographic, and product-wise loan distribution.</a:t>
            </a:r>
          </a:p>
          <a:p>
            <a:pPr>
              <a:buFont typeface="Arial" panose="020B0604020202020204" pitchFamily="34" charset="0"/>
              <a:buChar char="•"/>
            </a:pPr>
            <a:r>
              <a:rPr lang="en-IN" sz="2400" dirty="0">
                <a:solidFill>
                  <a:schemeClr val="tx1"/>
                </a:solidFill>
              </a:rPr>
              <a:t>Assess debit and credit transaction patterns and liquidity stability.</a:t>
            </a:r>
          </a:p>
          <a:p>
            <a:pPr>
              <a:buFont typeface="Arial" panose="020B0604020202020204" pitchFamily="34" charset="0"/>
              <a:buChar char="•"/>
            </a:pPr>
            <a:r>
              <a:rPr lang="en-IN" sz="2400" dirty="0">
                <a:solidFill>
                  <a:schemeClr val="tx1"/>
                </a:solidFill>
              </a:rPr>
              <a:t>Monitor high-risk transactions to support fraud detection.</a:t>
            </a:r>
          </a:p>
          <a:p>
            <a:pPr>
              <a:buFont typeface="Arial" panose="020B0604020202020204" pitchFamily="34" charset="0"/>
              <a:buChar char="•"/>
            </a:pPr>
            <a:r>
              <a:rPr lang="en-IN" sz="2400" dirty="0">
                <a:solidFill>
                  <a:schemeClr val="tx1"/>
                </a:solidFill>
              </a:rPr>
              <a:t>Develop interactive dashboards using Excel, MySQL, Tableau, and Power BI for data-driven insights.</a:t>
            </a:r>
          </a:p>
          <a:p>
            <a:endParaRPr lang="en-IN" dirty="0"/>
          </a:p>
        </p:txBody>
      </p:sp>
    </p:spTree>
    <p:extLst>
      <p:ext uri="{BB962C8B-B14F-4D97-AF65-F5344CB8AC3E}">
        <p14:creationId xmlns:p14="http://schemas.microsoft.com/office/powerpoint/2010/main" val="303590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4AB9-22A4-71D0-EFBF-1CF33D601228}"/>
              </a:ext>
            </a:extLst>
          </p:cNvPr>
          <p:cNvSpPr>
            <a:spLocks noGrp="1"/>
          </p:cNvSpPr>
          <p:nvPr>
            <p:ph type="title"/>
          </p:nvPr>
        </p:nvSpPr>
        <p:spPr/>
        <p:txBody>
          <a:bodyPr/>
          <a:lstStyle/>
          <a:p>
            <a:r>
              <a:rPr lang="en-IN" dirty="0"/>
              <a:t>process</a:t>
            </a:r>
          </a:p>
        </p:txBody>
      </p:sp>
      <p:sp>
        <p:nvSpPr>
          <p:cNvPr id="4" name="Rectangle 1">
            <a:extLst>
              <a:ext uri="{FF2B5EF4-FFF2-40B4-BE49-F238E27FC236}">
                <a16:creationId xmlns:a16="http://schemas.microsoft.com/office/drawing/2014/main" id="{01A5A3DB-2F52-F941-7623-A0B976995C18}"/>
              </a:ext>
            </a:extLst>
          </p:cNvPr>
          <p:cNvSpPr>
            <a:spLocks noGrp="1" noChangeArrowheads="1"/>
          </p:cNvSpPr>
          <p:nvPr>
            <p:ph idx="1"/>
          </p:nvPr>
        </p:nvSpPr>
        <p:spPr bwMode="auto">
          <a:xfrm>
            <a:off x="581192" y="2220850"/>
            <a:ext cx="1060262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u="none" strike="noStrike" cap="none" normalizeH="0" baseline="0" dirty="0">
                <a:ln>
                  <a:noFill/>
                </a:ln>
                <a:solidFill>
                  <a:schemeClr val="tx1"/>
                </a:solidFill>
                <a:effectLst/>
              </a:rPr>
              <a:t>Imported and cleaned raw loan and transaction datasets.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u="none" strike="noStrike" cap="none" normalizeH="0" baseline="0" dirty="0">
                <a:ln>
                  <a:noFill/>
                </a:ln>
                <a:solidFill>
                  <a:schemeClr val="tx1"/>
                </a:solidFill>
                <a:effectLst/>
              </a:rPr>
              <a:t>Handled missing values, standardized formats, and validated key fields.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u="none" strike="noStrike" cap="none" normalizeH="0" baseline="0" dirty="0">
                <a:ln>
                  <a:noFill/>
                </a:ln>
                <a:solidFill>
                  <a:schemeClr val="tx1"/>
                </a:solidFill>
                <a:effectLst/>
              </a:rPr>
              <a:t>Calculated KPIs including Total Loan Amount, Total Collection, Interest Revenue, Default Rate, Delinquency Rate, Total Credit, and Net Transaction Amount.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u="none" strike="noStrike" cap="none" normalizeH="0" baseline="0" dirty="0">
                <a:ln>
                  <a:noFill/>
                </a:ln>
                <a:solidFill>
                  <a:schemeClr val="tx1"/>
                </a:solidFill>
                <a:effectLst/>
              </a:rPr>
              <a:t>Created derived fields such as High-Value Transaction Flag (Amount ≥ 4750) and customer segmentation categories.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u="none" strike="noStrike" cap="none" normalizeH="0" baseline="0" dirty="0">
                <a:ln>
                  <a:noFill/>
                </a:ln>
                <a:solidFill>
                  <a:schemeClr val="tx1"/>
                </a:solidFill>
                <a:effectLst/>
              </a:rPr>
              <a:t>Developed interactive dashboards using Excel, MySQL, Tableau, and Power BI for performance and risk analysis.</a:t>
            </a:r>
          </a:p>
        </p:txBody>
      </p:sp>
    </p:spTree>
    <p:extLst>
      <p:ext uri="{BB962C8B-B14F-4D97-AF65-F5344CB8AC3E}">
        <p14:creationId xmlns:p14="http://schemas.microsoft.com/office/powerpoint/2010/main" val="302435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77073-1804-BC75-6712-E683016EDC2F}"/>
              </a:ext>
            </a:extLst>
          </p:cNvPr>
          <p:cNvSpPr>
            <a:spLocks noGrp="1"/>
          </p:cNvSpPr>
          <p:nvPr>
            <p:ph type="title"/>
          </p:nvPr>
        </p:nvSpPr>
        <p:spPr/>
        <p:txBody>
          <a:bodyPr>
            <a:normAutofit/>
          </a:bodyPr>
          <a:lstStyle/>
          <a:p>
            <a:r>
              <a:rPr lang="en-IN" sz="4000" dirty="0"/>
              <a:t>Loan Portfolio Analysis</a:t>
            </a:r>
          </a:p>
        </p:txBody>
      </p:sp>
      <p:sp>
        <p:nvSpPr>
          <p:cNvPr id="3" name="Text Placeholder 2">
            <a:extLst>
              <a:ext uri="{FF2B5EF4-FFF2-40B4-BE49-F238E27FC236}">
                <a16:creationId xmlns:a16="http://schemas.microsoft.com/office/drawing/2014/main" id="{03A7217A-9417-BD4F-7F5F-60897F66C6C2}"/>
              </a:ext>
            </a:extLst>
          </p:cNvPr>
          <p:cNvSpPr>
            <a:spLocks noGrp="1"/>
          </p:cNvSpPr>
          <p:nvPr>
            <p:ph type="body" idx="1"/>
          </p:nvPr>
        </p:nvSpPr>
        <p:spPr/>
        <p:txBody>
          <a:bodyPr/>
          <a:lstStyle/>
          <a:p>
            <a:r>
              <a:rPr lang="en-US"/>
              <a:t>Performance, Risk and Distribution Overview</a:t>
            </a:r>
            <a:endParaRPr lang="en-IN"/>
          </a:p>
        </p:txBody>
      </p:sp>
    </p:spTree>
    <p:extLst>
      <p:ext uri="{BB962C8B-B14F-4D97-AF65-F5344CB8AC3E}">
        <p14:creationId xmlns:p14="http://schemas.microsoft.com/office/powerpoint/2010/main" val="182512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291C0-61E1-2E2C-D144-5CFB22CACA2C}"/>
              </a:ext>
            </a:extLst>
          </p:cNvPr>
          <p:cNvSpPr>
            <a:spLocks noGrp="1"/>
          </p:cNvSpPr>
          <p:nvPr>
            <p:ph type="title"/>
          </p:nvPr>
        </p:nvSpPr>
        <p:spPr/>
        <p:txBody>
          <a:bodyPr>
            <a:normAutofit/>
          </a:bodyPr>
          <a:lstStyle/>
          <a:p>
            <a:r>
              <a:rPr lang="en-IN" sz="3600" cap="none"/>
              <a:t>LOAN KPI OVERVIEW</a:t>
            </a:r>
          </a:p>
        </p:txBody>
      </p:sp>
      <p:pic>
        <p:nvPicPr>
          <p:cNvPr id="6" name="Picture 5">
            <a:extLst>
              <a:ext uri="{FF2B5EF4-FFF2-40B4-BE49-F238E27FC236}">
                <a16:creationId xmlns:a16="http://schemas.microsoft.com/office/drawing/2014/main" id="{6E2991F2-E1FE-8B89-01B9-BD372E18CAA8}"/>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581191" y="2105539"/>
            <a:ext cx="11029617" cy="1323461"/>
          </a:xfrm>
          <a:prstGeom prst="rect">
            <a:avLst/>
          </a:prstGeom>
        </p:spPr>
      </p:pic>
      <p:sp>
        <p:nvSpPr>
          <p:cNvPr id="7" name="TextBox 6">
            <a:extLst>
              <a:ext uri="{FF2B5EF4-FFF2-40B4-BE49-F238E27FC236}">
                <a16:creationId xmlns:a16="http://schemas.microsoft.com/office/drawing/2014/main" id="{85FCD84F-A372-9E21-619E-9E11C0AA40B7}"/>
              </a:ext>
            </a:extLst>
          </p:cNvPr>
          <p:cNvSpPr txBox="1"/>
          <p:nvPr/>
        </p:nvSpPr>
        <p:spPr>
          <a:xfrm>
            <a:off x="581191" y="3429000"/>
            <a:ext cx="11029617" cy="31393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a:t>₹732.7M funded across 65K+ loans reflects strong lending scale and market reach.</a:t>
            </a:r>
          </a:p>
          <a:p>
            <a:pPr marL="285750" indent="-285750">
              <a:lnSpc>
                <a:spcPct val="150000"/>
              </a:lnSpc>
              <a:buFont typeface="Arial" panose="020B0604020202020204" pitchFamily="34" charset="0"/>
              <a:buChar char="•"/>
            </a:pPr>
            <a:r>
              <a:rPr lang="en-US" sz="2000"/>
              <a:t>Total collection (₹808.3M) exceeding funded amount indicates healthy repayment performance.</a:t>
            </a:r>
          </a:p>
          <a:p>
            <a:pPr marL="285750" indent="-285750">
              <a:lnSpc>
                <a:spcPct val="150000"/>
              </a:lnSpc>
              <a:buFont typeface="Arial" panose="020B0604020202020204" pitchFamily="34" charset="0"/>
              <a:buChar char="•"/>
            </a:pPr>
            <a:r>
              <a:rPr lang="en-US" sz="2000"/>
              <a:t>₹155.29M in interest income shows strong revenue contribution from lending operations.</a:t>
            </a:r>
          </a:p>
          <a:p>
            <a:pPr marL="285750" indent="-285750">
              <a:lnSpc>
                <a:spcPct val="150000"/>
              </a:lnSpc>
              <a:buFont typeface="Arial" panose="020B0604020202020204" pitchFamily="34" charset="0"/>
              <a:buChar char="•"/>
            </a:pPr>
            <a:r>
              <a:rPr lang="en-US" sz="2000"/>
              <a:t>Average loan maturity of 43.2 months suggests a balanced medium-term portfolio structure.</a:t>
            </a:r>
          </a:p>
          <a:p>
            <a:pPr marL="285750" indent="-285750">
              <a:lnSpc>
                <a:spcPct val="150000"/>
              </a:lnSpc>
              <a:buFont typeface="Arial" panose="020B0604020202020204" pitchFamily="34" charset="0"/>
              <a:buChar char="•"/>
            </a:pPr>
            <a:r>
              <a:rPr lang="en-US" sz="2000"/>
              <a:t>Default rate (1.56%) is controlled; however, delinquency rate (10.84%) requires close monitoring.</a:t>
            </a:r>
          </a:p>
          <a:p>
            <a:pPr marL="285750" indent="-285750">
              <a:lnSpc>
                <a:spcPct val="150000"/>
              </a:lnSpc>
              <a:buFont typeface="Arial" panose="020B0604020202020204" pitchFamily="34" charset="0"/>
              <a:buChar char="•"/>
            </a:pPr>
            <a:r>
              <a:rPr lang="en-US" sz="2000"/>
              <a:t>16.9K non-verified loans indicate potential compliance and operational risk areas.</a:t>
            </a:r>
          </a:p>
          <a:p>
            <a:endParaRPr lang="en-IN"/>
          </a:p>
        </p:txBody>
      </p:sp>
    </p:spTree>
    <p:extLst>
      <p:ext uri="{BB962C8B-B14F-4D97-AF65-F5344CB8AC3E}">
        <p14:creationId xmlns:p14="http://schemas.microsoft.com/office/powerpoint/2010/main" val="223849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41283-6CA9-5CA4-3926-20A99F888A04}"/>
              </a:ext>
            </a:extLst>
          </p:cNvPr>
          <p:cNvSpPr>
            <a:spLocks noGrp="1"/>
          </p:cNvSpPr>
          <p:nvPr>
            <p:ph type="title"/>
          </p:nvPr>
        </p:nvSpPr>
        <p:spPr/>
        <p:txBody>
          <a:bodyPr/>
          <a:lstStyle/>
          <a:p>
            <a:r>
              <a:rPr lang="en-IN"/>
              <a:t>Branch-Wise Loan Distribution</a:t>
            </a:r>
          </a:p>
        </p:txBody>
      </p:sp>
      <p:sp>
        <p:nvSpPr>
          <p:cNvPr id="7" name="Rectangle 2">
            <a:extLst>
              <a:ext uri="{FF2B5EF4-FFF2-40B4-BE49-F238E27FC236}">
                <a16:creationId xmlns:a16="http://schemas.microsoft.com/office/drawing/2014/main" id="{5E7D304C-E6DB-AC15-3941-7835E3DD2C97}"/>
              </a:ext>
            </a:extLst>
          </p:cNvPr>
          <p:cNvSpPr>
            <a:spLocks noChangeArrowheads="1"/>
          </p:cNvSpPr>
          <p:nvPr/>
        </p:nvSpPr>
        <p:spPr bwMode="auto">
          <a:xfrm>
            <a:off x="7423355" y="1955720"/>
            <a:ext cx="4414684" cy="420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Mathura leads </a:t>
            </a:r>
            <a:r>
              <a:rPr kumimoji="0" lang="en-US" altLang="en-US" sz="2000" b="0" i="0" u="none" strike="noStrike" cap="none" normalizeH="0" baseline="0">
                <a:ln>
                  <a:noFill/>
                </a:ln>
                <a:solidFill>
                  <a:schemeClr val="tx1"/>
                </a:solidFill>
                <a:effectLst/>
                <a:latin typeface="Arial" panose="020B0604020202020204" pitchFamily="34" charset="0"/>
              </a:rPr>
              <a:t>in total loan disbursement, followed by Sangrur and Muzaffarpur.</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sz="2000"/>
              <a:t>The top branches contribute a significant share of the overall portfolio.</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sz="2000"/>
              <a:t>Lower-performing branches offer opportunities for portfolio growth and operational improvement.</a:t>
            </a:r>
            <a:endParaRPr kumimoji="0" lang="en-US" altLang="en-US" sz="20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3DEDDA45-AE61-61B5-7FC0-AEE023A5688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47253" y="2186552"/>
            <a:ext cx="6538450" cy="3658111"/>
          </a:xfrm>
          <a:prstGeom prst="rect">
            <a:avLst/>
          </a:prstGeom>
        </p:spPr>
      </p:pic>
    </p:spTree>
    <p:extLst>
      <p:ext uri="{BB962C8B-B14F-4D97-AF65-F5344CB8AC3E}">
        <p14:creationId xmlns:p14="http://schemas.microsoft.com/office/powerpoint/2010/main" val="1483108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4E18C-0E65-0103-C908-CA6198C4C01F}"/>
              </a:ext>
            </a:extLst>
          </p:cNvPr>
          <p:cNvSpPr>
            <a:spLocks noGrp="1"/>
          </p:cNvSpPr>
          <p:nvPr>
            <p:ph type="title"/>
          </p:nvPr>
        </p:nvSpPr>
        <p:spPr/>
        <p:txBody>
          <a:bodyPr/>
          <a:lstStyle/>
          <a:p>
            <a:r>
              <a:rPr lang="en-IN"/>
              <a:t>State-Wise Loan Distribution Analysis</a:t>
            </a:r>
          </a:p>
        </p:txBody>
      </p:sp>
      <p:sp>
        <p:nvSpPr>
          <p:cNvPr id="5" name="TextBox 4">
            <a:extLst>
              <a:ext uri="{FF2B5EF4-FFF2-40B4-BE49-F238E27FC236}">
                <a16:creationId xmlns:a16="http://schemas.microsoft.com/office/drawing/2014/main" id="{53DF0AE3-EC34-2584-90C8-F113EA238F1E}"/>
              </a:ext>
            </a:extLst>
          </p:cNvPr>
          <p:cNvSpPr txBox="1"/>
          <p:nvPr/>
        </p:nvSpPr>
        <p:spPr>
          <a:xfrm>
            <a:off x="7148053" y="2379406"/>
            <a:ext cx="4591664" cy="40626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a:t>Uttar Pradesh has the highest loan disbursement, followed by Punjab and Bihar.</a:t>
            </a:r>
          </a:p>
          <a:p>
            <a:pPr marL="285750" indent="-285750">
              <a:lnSpc>
                <a:spcPct val="150000"/>
              </a:lnSpc>
              <a:buFont typeface="Arial" panose="020B0604020202020204" pitchFamily="34" charset="0"/>
              <a:buChar char="•"/>
            </a:pPr>
            <a:r>
              <a:rPr lang="en-US" sz="2000"/>
              <a:t>Loan distribution is concentrated in a few major states.</a:t>
            </a:r>
          </a:p>
          <a:p>
            <a:pPr marL="285750" indent="-285750">
              <a:lnSpc>
                <a:spcPct val="150000"/>
              </a:lnSpc>
              <a:buFont typeface="Arial" panose="020B0604020202020204" pitchFamily="34" charset="0"/>
              <a:buChar char="•"/>
            </a:pPr>
            <a:r>
              <a:rPr lang="en-US" sz="2000"/>
              <a:t>Several states show low lending exposure, indicating potential growth opportunities.</a:t>
            </a:r>
          </a:p>
          <a:p>
            <a:endParaRPr lang="en-IN"/>
          </a:p>
        </p:txBody>
      </p:sp>
      <p:pic>
        <p:nvPicPr>
          <p:cNvPr id="9" name="Picture 8">
            <a:extLst>
              <a:ext uri="{FF2B5EF4-FFF2-40B4-BE49-F238E27FC236}">
                <a16:creationId xmlns:a16="http://schemas.microsoft.com/office/drawing/2014/main" id="{DE0B11D3-A104-FBCC-0B79-B75A4397100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581192" y="2227531"/>
            <a:ext cx="6039693" cy="3962953"/>
          </a:xfrm>
          <a:prstGeom prst="rect">
            <a:avLst/>
          </a:prstGeom>
        </p:spPr>
      </p:pic>
    </p:spTree>
    <p:extLst>
      <p:ext uri="{BB962C8B-B14F-4D97-AF65-F5344CB8AC3E}">
        <p14:creationId xmlns:p14="http://schemas.microsoft.com/office/powerpoint/2010/main" val="77720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1F64-1203-9543-0D0C-2766F211F1D5}"/>
              </a:ext>
            </a:extLst>
          </p:cNvPr>
          <p:cNvSpPr>
            <a:spLocks noGrp="1"/>
          </p:cNvSpPr>
          <p:nvPr>
            <p:ph type="title"/>
          </p:nvPr>
        </p:nvSpPr>
        <p:spPr/>
        <p:txBody>
          <a:bodyPr/>
          <a:lstStyle/>
          <a:p>
            <a:r>
              <a:rPr lang="en-IN"/>
              <a:t>Religion-wise Loan Distribution</a:t>
            </a:r>
          </a:p>
        </p:txBody>
      </p:sp>
      <p:pic>
        <p:nvPicPr>
          <p:cNvPr id="6" name="Picture 5">
            <a:extLst>
              <a:ext uri="{FF2B5EF4-FFF2-40B4-BE49-F238E27FC236}">
                <a16:creationId xmlns:a16="http://schemas.microsoft.com/office/drawing/2014/main" id="{7149272B-C4DB-CEA0-2F4E-540C5562684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75525" y="2115260"/>
            <a:ext cx="4640371" cy="4040584"/>
          </a:xfrm>
          <a:prstGeom prst="rect">
            <a:avLst/>
          </a:prstGeom>
        </p:spPr>
      </p:pic>
      <p:sp>
        <p:nvSpPr>
          <p:cNvPr id="4" name="Rectangle 1">
            <a:extLst>
              <a:ext uri="{FF2B5EF4-FFF2-40B4-BE49-F238E27FC236}">
                <a16:creationId xmlns:a16="http://schemas.microsoft.com/office/drawing/2014/main" id="{E743135F-18DE-07F3-DF16-E73FFD8D750E}"/>
              </a:ext>
            </a:extLst>
          </p:cNvPr>
          <p:cNvSpPr>
            <a:spLocks noChangeArrowheads="1"/>
          </p:cNvSpPr>
          <p:nvPr/>
        </p:nvSpPr>
        <p:spPr bwMode="auto">
          <a:xfrm>
            <a:off x="5928853" y="1941176"/>
            <a:ext cx="5456902"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The majority of loans (75%) are issued to Hindu customers, indicating a strong concentration in this segment.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Sikh (13%) and Muslim (11%) borrowers represent moderate portions of the loan portfolio.</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Christian customers account for only 1%, reflecting a very small share in comparison to other groups.</a:t>
            </a:r>
          </a:p>
        </p:txBody>
      </p:sp>
    </p:spTree>
    <p:extLst>
      <p:ext uri="{BB962C8B-B14F-4D97-AF65-F5344CB8AC3E}">
        <p14:creationId xmlns:p14="http://schemas.microsoft.com/office/powerpoint/2010/main" val="366125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4683-DF48-488E-3786-3351FB6D610B}"/>
              </a:ext>
            </a:extLst>
          </p:cNvPr>
          <p:cNvSpPr>
            <a:spLocks noGrp="1"/>
          </p:cNvSpPr>
          <p:nvPr>
            <p:ph type="title"/>
          </p:nvPr>
        </p:nvSpPr>
        <p:spPr/>
        <p:txBody>
          <a:bodyPr/>
          <a:lstStyle/>
          <a:p>
            <a:r>
              <a:rPr lang="en-US"/>
              <a:t>Product Group Wise Loan Distribution</a:t>
            </a:r>
            <a:endParaRPr lang="en-IN"/>
          </a:p>
        </p:txBody>
      </p:sp>
      <p:pic>
        <p:nvPicPr>
          <p:cNvPr id="8" name="Content Placeholder 7">
            <a:extLst>
              <a:ext uri="{FF2B5EF4-FFF2-40B4-BE49-F238E27FC236}">
                <a16:creationId xmlns:a16="http://schemas.microsoft.com/office/drawing/2014/main" id="{DB3D3FDF-1686-0951-33E9-44A8CBC67A83}"/>
              </a:ext>
            </a:extLst>
          </p:cNvPr>
          <p:cNvPicPr>
            <a:picLocks noGrp="1" noChangeAspect="1"/>
          </p:cNvPicPr>
          <p:nvPr>
            <p:ph idx="1"/>
          </p:nvPr>
        </p:nvPicPr>
        <p:blipFill>
          <a:blip r:embed="rId2"/>
          <a:stretch>
            <a:fillRect/>
          </a:stretch>
        </p:blipFill>
        <p:spPr>
          <a:xfrm>
            <a:off x="793013" y="2455536"/>
            <a:ext cx="4686954" cy="3581900"/>
          </a:xfrm>
          <a:prstGeom prst="rect">
            <a:avLst/>
          </a:prstGeom>
        </p:spPr>
      </p:pic>
      <p:sp>
        <p:nvSpPr>
          <p:cNvPr id="3" name="TextBox 2">
            <a:extLst>
              <a:ext uri="{FF2B5EF4-FFF2-40B4-BE49-F238E27FC236}">
                <a16:creationId xmlns:a16="http://schemas.microsoft.com/office/drawing/2014/main" id="{E6084F61-B966-C96A-B51E-B7082751EB7A}"/>
              </a:ext>
            </a:extLst>
          </p:cNvPr>
          <p:cNvSpPr txBox="1"/>
          <p:nvPr/>
        </p:nvSpPr>
        <p:spPr>
          <a:xfrm>
            <a:off x="6213987" y="2379406"/>
            <a:ext cx="5396821" cy="327961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a:t>The XLG product group dominates the portfolio, contributing approximately ₹656.9M, which is significantly higher than all other categories.</a:t>
            </a:r>
          </a:p>
          <a:p>
            <a:pPr marL="285750" indent="-285750">
              <a:lnSpc>
                <a:spcPct val="150000"/>
              </a:lnSpc>
              <a:buFont typeface="Arial" panose="020B0604020202020204" pitchFamily="34" charset="0"/>
              <a:buChar char="•"/>
            </a:pPr>
            <a:r>
              <a:rPr lang="en-IN" sz="2000"/>
              <a:t>XL (₹65.3M) and XTL (₹27.5M) represent moderate contributions.</a:t>
            </a:r>
          </a:p>
          <a:p>
            <a:pPr marL="285750" indent="-285750">
              <a:lnSpc>
                <a:spcPct val="150000"/>
              </a:lnSpc>
              <a:buFont typeface="Arial" panose="020B0604020202020204" pitchFamily="34" charset="0"/>
              <a:buChar char="•"/>
            </a:pPr>
            <a:r>
              <a:rPr lang="en-US" sz="2000"/>
              <a:t>IML (₹0.5M) and XLS (₹0.8M) contribute a very minimal share.</a:t>
            </a:r>
            <a:endParaRPr lang="en-IN" sz="2000"/>
          </a:p>
        </p:txBody>
      </p:sp>
    </p:spTree>
    <p:extLst>
      <p:ext uri="{BB962C8B-B14F-4D97-AF65-F5344CB8AC3E}">
        <p14:creationId xmlns:p14="http://schemas.microsoft.com/office/powerpoint/2010/main" val="2268595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64E9-8BCF-FDFE-BF53-E0A1EA6A4D90}"/>
              </a:ext>
            </a:extLst>
          </p:cNvPr>
          <p:cNvSpPr>
            <a:spLocks noGrp="1"/>
          </p:cNvSpPr>
          <p:nvPr>
            <p:ph type="title"/>
          </p:nvPr>
        </p:nvSpPr>
        <p:spPr/>
        <p:txBody>
          <a:bodyPr/>
          <a:lstStyle/>
          <a:p>
            <a:r>
              <a:rPr lang="en-IN"/>
              <a:t>Loan Disbursement Over Months</a:t>
            </a:r>
          </a:p>
        </p:txBody>
      </p:sp>
      <p:pic>
        <p:nvPicPr>
          <p:cNvPr id="6" name="Picture 5">
            <a:extLst>
              <a:ext uri="{FF2B5EF4-FFF2-40B4-BE49-F238E27FC236}">
                <a16:creationId xmlns:a16="http://schemas.microsoft.com/office/drawing/2014/main" id="{49190527-5833-32B8-48AD-D9D05E5F5D13}"/>
              </a:ext>
            </a:extLst>
          </p:cNvPr>
          <p:cNvPicPr>
            <a:picLocks noChangeAspect="1"/>
          </p:cNvPicPr>
          <p:nvPr/>
        </p:nvPicPr>
        <p:blipFill>
          <a:blip r:embed="rId2"/>
          <a:stretch>
            <a:fillRect/>
          </a:stretch>
        </p:blipFill>
        <p:spPr>
          <a:xfrm>
            <a:off x="683070" y="2345667"/>
            <a:ext cx="6106377" cy="3562847"/>
          </a:xfrm>
          <a:prstGeom prst="rect">
            <a:avLst/>
          </a:prstGeom>
        </p:spPr>
      </p:pic>
      <p:sp>
        <p:nvSpPr>
          <p:cNvPr id="5" name="Rectangle 2">
            <a:extLst>
              <a:ext uri="{FF2B5EF4-FFF2-40B4-BE49-F238E27FC236}">
                <a16:creationId xmlns:a16="http://schemas.microsoft.com/office/drawing/2014/main" id="{F55EB8C1-B61F-32E2-B0BE-70173DF03683}"/>
              </a:ext>
            </a:extLst>
          </p:cNvPr>
          <p:cNvSpPr>
            <a:spLocks noChangeArrowheads="1"/>
          </p:cNvSpPr>
          <p:nvPr/>
        </p:nvSpPr>
        <p:spPr bwMode="auto">
          <a:xfrm>
            <a:off x="6921909" y="1836519"/>
            <a:ext cx="4847304"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Disbursement fluctuates significantly across the year.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March (₹149.9M) and September (₹109.6M) show peak lending activity.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A sharp drop is observed in April (₹17.7M) after the March spike.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Mid-year months remain relatively stable at lower levels, with slight recovery toward year-end.</a:t>
            </a:r>
          </a:p>
        </p:txBody>
      </p:sp>
    </p:spTree>
    <p:extLst>
      <p:ext uri="{BB962C8B-B14F-4D97-AF65-F5344CB8AC3E}">
        <p14:creationId xmlns:p14="http://schemas.microsoft.com/office/powerpoint/2010/main" val="3675733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1A61-3981-3690-88CE-76D6F5AF9CEF}"/>
              </a:ext>
            </a:extLst>
          </p:cNvPr>
          <p:cNvSpPr>
            <a:spLocks noGrp="1"/>
          </p:cNvSpPr>
          <p:nvPr>
            <p:ph type="title"/>
          </p:nvPr>
        </p:nvSpPr>
        <p:spPr/>
        <p:txBody>
          <a:bodyPr/>
          <a:lstStyle/>
          <a:p>
            <a:r>
              <a:rPr lang="en-IN"/>
              <a:t>Grade Wise Loan</a:t>
            </a:r>
          </a:p>
        </p:txBody>
      </p:sp>
      <p:pic>
        <p:nvPicPr>
          <p:cNvPr id="8" name="Picture 7">
            <a:extLst>
              <a:ext uri="{FF2B5EF4-FFF2-40B4-BE49-F238E27FC236}">
                <a16:creationId xmlns:a16="http://schemas.microsoft.com/office/drawing/2014/main" id="{D77B230F-85DE-298F-44B2-944FD5BB25E0}"/>
              </a:ext>
            </a:extLst>
          </p:cNvPr>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747250" y="2389239"/>
            <a:ext cx="4886633" cy="3313471"/>
          </a:xfrm>
          <a:prstGeom prst="rect">
            <a:avLst/>
          </a:prstGeom>
        </p:spPr>
      </p:pic>
      <p:sp>
        <p:nvSpPr>
          <p:cNvPr id="4" name="TextBox 3">
            <a:extLst>
              <a:ext uri="{FF2B5EF4-FFF2-40B4-BE49-F238E27FC236}">
                <a16:creationId xmlns:a16="http://schemas.microsoft.com/office/drawing/2014/main" id="{CA4FD40D-AA66-7EDE-2240-EC2AC34943B9}"/>
              </a:ext>
            </a:extLst>
          </p:cNvPr>
          <p:cNvSpPr txBox="1"/>
          <p:nvPr/>
        </p:nvSpPr>
        <p:spPr>
          <a:xfrm>
            <a:off x="6096000" y="2690336"/>
            <a:ext cx="5220929" cy="28179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a:t>Grade B (₹133.7M) has the highest loan disbursement, followed by Grade C (₹89.1M) and Grade A (₹87.0M).</a:t>
            </a:r>
          </a:p>
          <a:p>
            <a:pPr marL="285750" indent="-285750">
              <a:lnSpc>
                <a:spcPct val="150000"/>
              </a:lnSpc>
              <a:buFont typeface="Arial" panose="020B0604020202020204" pitchFamily="34" charset="0"/>
              <a:buChar char="•"/>
            </a:pPr>
            <a:r>
              <a:rPr lang="en-US" sz="2000"/>
              <a:t>Loan amounts gradually decline from Grade D to Grade G, with Grade G (₹6.4M) being the lowest.</a:t>
            </a:r>
          </a:p>
        </p:txBody>
      </p:sp>
    </p:spTree>
    <p:extLst>
      <p:ext uri="{BB962C8B-B14F-4D97-AF65-F5344CB8AC3E}">
        <p14:creationId xmlns:p14="http://schemas.microsoft.com/office/powerpoint/2010/main" val="139218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ABB48-B229-E805-DF0C-BCA54B325DE8}"/>
              </a:ext>
            </a:extLst>
          </p:cNvPr>
          <p:cNvSpPr>
            <a:spLocks noGrp="1"/>
          </p:cNvSpPr>
          <p:nvPr>
            <p:ph type="title"/>
          </p:nvPr>
        </p:nvSpPr>
        <p:spPr/>
        <p:txBody>
          <a:bodyPr/>
          <a:lstStyle/>
          <a:p>
            <a:r>
              <a:rPr lang="en-US"/>
              <a:t>Loan Portfolio Distribution by Status</a:t>
            </a:r>
            <a:endParaRPr lang="en-IN"/>
          </a:p>
        </p:txBody>
      </p:sp>
      <p:pic>
        <p:nvPicPr>
          <p:cNvPr id="6" name="Picture 5">
            <a:extLst>
              <a:ext uri="{FF2B5EF4-FFF2-40B4-BE49-F238E27FC236}">
                <a16:creationId xmlns:a16="http://schemas.microsoft.com/office/drawing/2014/main" id="{32BBB9E3-4019-1CBC-0F70-8FCB51660D8D}"/>
              </a:ext>
            </a:extLst>
          </p:cNvPr>
          <p:cNvPicPr>
            <a:picLocks noChangeAspect="1"/>
          </p:cNvPicPr>
          <p:nvPr/>
        </p:nvPicPr>
        <p:blipFill>
          <a:blip r:embed="rId2"/>
          <a:stretch>
            <a:fillRect/>
          </a:stretch>
        </p:blipFill>
        <p:spPr>
          <a:xfrm>
            <a:off x="627887" y="2130898"/>
            <a:ext cx="5468113" cy="3877216"/>
          </a:xfrm>
          <a:prstGeom prst="rect">
            <a:avLst/>
          </a:prstGeom>
        </p:spPr>
      </p:pic>
      <p:sp>
        <p:nvSpPr>
          <p:cNvPr id="3" name="Rectangle 1">
            <a:extLst>
              <a:ext uri="{FF2B5EF4-FFF2-40B4-BE49-F238E27FC236}">
                <a16:creationId xmlns:a16="http://schemas.microsoft.com/office/drawing/2014/main" id="{8F77686B-671E-9595-6EBD-0773036F8F29}"/>
              </a:ext>
            </a:extLst>
          </p:cNvPr>
          <p:cNvSpPr>
            <a:spLocks noChangeArrowheads="1"/>
          </p:cNvSpPr>
          <p:nvPr/>
        </p:nvSpPr>
        <p:spPr bwMode="auto">
          <a:xfrm>
            <a:off x="6017342" y="1974349"/>
            <a:ext cx="5546771"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The majority of the portfolio is in Active Loans (₹412.1M), indicating strong ongoing lending exposure.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Fully Paid loans (₹190.9M) represent a significant portion, showing healthy repayment levels.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Arial" panose="020B0604020202020204" pitchFamily="34" charset="0"/>
              </a:rPr>
              <a:t>Net-Off (₹68.4M) is the largest stressed category, while NPA (₹6.1M) and Write-Off (₹1.2M) remain comparatively low.</a:t>
            </a:r>
          </a:p>
        </p:txBody>
      </p:sp>
    </p:spTree>
    <p:extLst>
      <p:ext uri="{BB962C8B-B14F-4D97-AF65-F5344CB8AC3E}">
        <p14:creationId xmlns:p14="http://schemas.microsoft.com/office/powerpoint/2010/main" val="64959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5419-95EA-7C68-283D-2935375D1260}"/>
              </a:ext>
            </a:extLst>
          </p:cNvPr>
          <p:cNvSpPr>
            <a:spLocks noGrp="1"/>
          </p:cNvSpPr>
          <p:nvPr>
            <p:ph type="title"/>
          </p:nvPr>
        </p:nvSpPr>
        <p:spPr/>
        <p:txBody>
          <a:bodyPr/>
          <a:lstStyle/>
          <a:p>
            <a:r>
              <a:rPr lang="en-US"/>
              <a:t>Age Group–Wise Loan Distribution </a:t>
            </a:r>
            <a:endParaRPr lang="en-IN"/>
          </a:p>
        </p:txBody>
      </p:sp>
      <p:pic>
        <p:nvPicPr>
          <p:cNvPr id="6" name="Picture 5">
            <a:extLst>
              <a:ext uri="{FF2B5EF4-FFF2-40B4-BE49-F238E27FC236}">
                <a16:creationId xmlns:a16="http://schemas.microsoft.com/office/drawing/2014/main" id="{BD3C2E05-E738-CA47-1B7E-C0CB5EC41E0B}"/>
              </a:ext>
            </a:extLst>
          </p:cNvPr>
          <p:cNvPicPr>
            <a:picLocks noChangeAspect="1"/>
          </p:cNvPicPr>
          <p:nvPr/>
        </p:nvPicPr>
        <p:blipFill>
          <a:blip r:embed="rId2"/>
          <a:srcRect r="1661" b="263"/>
          <a:stretch>
            <a:fillRect/>
          </a:stretch>
        </p:blipFill>
        <p:spPr>
          <a:xfrm>
            <a:off x="848963" y="2204411"/>
            <a:ext cx="5255503" cy="3743499"/>
          </a:xfrm>
          <a:prstGeom prst="rect">
            <a:avLst/>
          </a:prstGeom>
        </p:spPr>
      </p:pic>
      <p:sp>
        <p:nvSpPr>
          <p:cNvPr id="4" name="TextBox 3">
            <a:extLst>
              <a:ext uri="{FF2B5EF4-FFF2-40B4-BE49-F238E27FC236}">
                <a16:creationId xmlns:a16="http://schemas.microsoft.com/office/drawing/2014/main" id="{B2A9C7B5-2AE6-E9EE-6779-847EA1E5B924}"/>
              </a:ext>
            </a:extLst>
          </p:cNvPr>
          <p:cNvSpPr txBox="1"/>
          <p:nvPr/>
        </p:nvSpPr>
        <p:spPr>
          <a:xfrm>
            <a:off x="6096000" y="2475951"/>
            <a:ext cx="5514808" cy="28179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a:t>The highest loan disbursement is concentrated in the 26–35 age group (₹261.0M), followed closely by 36–45 (₹243.3M).</a:t>
            </a:r>
          </a:p>
          <a:p>
            <a:pPr marL="285750" indent="-285750">
              <a:lnSpc>
                <a:spcPct val="150000"/>
              </a:lnSpc>
              <a:buFont typeface="Arial" panose="020B0604020202020204" pitchFamily="34" charset="0"/>
              <a:buChar char="•"/>
            </a:pPr>
            <a:r>
              <a:rPr lang="en-US" sz="2000"/>
              <a:t>18–25 and 56–63 age groups have significantly lower loan amounts, indicating limited exposure.</a:t>
            </a:r>
          </a:p>
          <a:p>
            <a:pPr marL="285750" indent="-285750">
              <a:lnSpc>
                <a:spcPct val="150000"/>
              </a:lnSpc>
              <a:buFont typeface="Arial" panose="020B0604020202020204" pitchFamily="34" charset="0"/>
              <a:buChar char="•"/>
            </a:pPr>
            <a:r>
              <a:rPr lang="en-US" sz="2000"/>
              <a:t>Loan participation declines steadily after age 45.</a:t>
            </a:r>
          </a:p>
        </p:txBody>
      </p:sp>
    </p:spTree>
    <p:extLst>
      <p:ext uri="{BB962C8B-B14F-4D97-AF65-F5344CB8AC3E}">
        <p14:creationId xmlns:p14="http://schemas.microsoft.com/office/powerpoint/2010/main" val="2895009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B625-0758-E0E7-D546-32E8B78164FE}"/>
              </a:ext>
            </a:extLst>
          </p:cNvPr>
          <p:cNvSpPr>
            <a:spLocks noGrp="1"/>
          </p:cNvSpPr>
          <p:nvPr>
            <p:ph type="title"/>
          </p:nvPr>
        </p:nvSpPr>
        <p:spPr/>
        <p:txBody>
          <a:bodyPr/>
          <a:lstStyle/>
          <a:p>
            <a:r>
              <a:rPr lang="en-US" sz="4000" dirty="0"/>
              <a:t>Bank</a:t>
            </a:r>
            <a:r>
              <a:rPr lang="en-US" dirty="0"/>
              <a:t> Debit &amp; Credit Performance Analysis</a:t>
            </a:r>
            <a:endParaRPr lang="en-IN" dirty="0"/>
          </a:p>
        </p:txBody>
      </p:sp>
      <p:sp>
        <p:nvSpPr>
          <p:cNvPr id="3" name="Text Placeholder 2">
            <a:extLst>
              <a:ext uri="{FF2B5EF4-FFF2-40B4-BE49-F238E27FC236}">
                <a16:creationId xmlns:a16="http://schemas.microsoft.com/office/drawing/2014/main" id="{4802A399-F5E4-516F-F70B-7EC8E099774E}"/>
              </a:ext>
            </a:extLst>
          </p:cNvPr>
          <p:cNvSpPr>
            <a:spLocks noGrp="1"/>
          </p:cNvSpPr>
          <p:nvPr>
            <p:ph type="body" idx="1"/>
          </p:nvPr>
        </p:nvSpPr>
        <p:spPr/>
        <p:txBody>
          <a:bodyPr/>
          <a:lstStyle/>
          <a:p>
            <a:r>
              <a:rPr lang="en-US" dirty="0"/>
              <a:t>Insights into Transaction Trends, Financial Flow, and Risk Performance</a:t>
            </a:r>
            <a:endParaRPr lang="en-IN" dirty="0"/>
          </a:p>
        </p:txBody>
      </p:sp>
    </p:spTree>
    <p:extLst>
      <p:ext uri="{BB962C8B-B14F-4D97-AF65-F5344CB8AC3E}">
        <p14:creationId xmlns:p14="http://schemas.microsoft.com/office/powerpoint/2010/main" val="408072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355A-169D-98BA-53FF-F5718218EC4D}"/>
              </a:ext>
            </a:extLst>
          </p:cNvPr>
          <p:cNvSpPr>
            <a:spLocks noGrp="1"/>
          </p:cNvSpPr>
          <p:nvPr>
            <p:ph type="title"/>
          </p:nvPr>
        </p:nvSpPr>
        <p:spPr/>
        <p:txBody>
          <a:bodyPr/>
          <a:lstStyle/>
          <a:p>
            <a:r>
              <a:rPr lang="en-IN" dirty="0"/>
              <a:t>Debit &amp; Credit KPI Overview</a:t>
            </a:r>
            <a:endParaRPr lang="en-US" dirty="0"/>
          </a:p>
        </p:txBody>
      </p:sp>
      <p:pic>
        <p:nvPicPr>
          <p:cNvPr id="5" name="Content Placeholder 4">
            <a:extLst>
              <a:ext uri="{FF2B5EF4-FFF2-40B4-BE49-F238E27FC236}">
                <a16:creationId xmlns:a16="http://schemas.microsoft.com/office/drawing/2014/main" id="{3A5C6B88-DB22-15CF-3530-26D32AA412EB}"/>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472870" y="1842628"/>
            <a:ext cx="11257014" cy="1268103"/>
          </a:xfrm>
          <a:prstGeom prst="rect">
            <a:avLst/>
          </a:prstGeom>
        </p:spPr>
      </p:pic>
      <p:sp>
        <p:nvSpPr>
          <p:cNvPr id="8" name="Rectangle 2">
            <a:extLst>
              <a:ext uri="{FF2B5EF4-FFF2-40B4-BE49-F238E27FC236}">
                <a16:creationId xmlns:a16="http://schemas.microsoft.com/office/drawing/2014/main" id="{ED5B012D-6689-0DBA-2EE1-6398792ADA5C}"/>
              </a:ext>
            </a:extLst>
          </p:cNvPr>
          <p:cNvSpPr>
            <a:spLocks noChangeArrowheads="1"/>
          </p:cNvSpPr>
          <p:nvPr/>
        </p:nvSpPr>
        <p:spPr bwMode="auto">
          <a:xfrm>
            <a:off x="581192" y="3233474"/>
            <a:ext cx="11029616"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Credit (₹127.6M) and Debit (₹127.29M) amounts are nearly balanced, reflected in a Credit-to-Debit ratio of 1.002, indicating stable cash flow.</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Net Transaction Amount stands at ₹318.1K, showing a marginal positive inflow.</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Account Activity Ratio (0.000190) suggests relatively low active transaction intensity compared to total accounts.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5,296 High-Risk Transactions highlight the need for continuous fraud monitoring and risk control measures.</a:t>
            </a:r>
          </a:p>
        </p:txBody>
      </p:sp>
    </p:spTree>
    <p:extLst>
      <p:ext uri="{BB962C8B-B14F-4D97-AF65-F5344CB8AC3E}">
        <p14:creationId xmlns:p14="http://schemas.microsoft.com/office/powerpoint/2010/main" val="3437259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61278-A14C-B0D4-64D2-4992427AA47E}"/>
              </a:ext>
            </a:extLst>
          </p:cNvPr>
          <p:cNvSpPr>
            <a:spLocks noGrp="1"/>
          </p:cNvSpPr>
          <p:nvPr>
            <p:ph type="title"/>
          </p:nvPr>
        </p:nvSpPr>
        <p:spPr/>
        <p:txBody>
          <a:bodyPr/>
          <a:lstStyle/>
          <a:p>
            <a:r>
              <a:rPr lang="en-IN" dirty="0"/>
              <a:t>Monthly Transaction Analysis</a:t>
            </a:r>
          </a:p>
        </p:txBody>
      </p:sp>
      <p:pic>
        <p:nvPicPr>
          <p:cNvPr id="5" name="Content Placeholder 4">
            <a:extLst>
              <a:ext uri="{FF2B5EF4-FFF2-40B4-BE49-F238E27FC236}">
                <a16:creationId xmlns:a16="http://schemas.microsoft.com/office/drawing/2014/main" id="{F6F256C1-20F2-17BE-67EC-171F2BD4D8FE}"/>
              </a:ext>
            </a:extLst>
          </p:cNvPr>
          <p:cNvPicPr>
            <a:picLocks noGrp="1" noChangeAspect="1"/>
          </p:cNvPicPr>
          <p:nvPr>
            <p:ph idx="1"/>
          </p:nvPr>
        </p:nvPicPr>
        <p:blipFill>
          <a:blip r:embed="rId2"/>
          <a:stretch>
            <a:fillRect/>
          </a:stretch>
        </p:blipFill>
        <p:spPr>
          <a:xfrm>
            <a:off x="720125" y="2154972"/>
            <a:ext cx="5936313" cy="2987074"/>
          </a:xfrm>
          <a:prstGeom prst="rect">
            <a:avLst/>
          </a:prstGeom>
        </p:spPr>
      </p:pic>
      <p:sp>
        <p:nvSpPr>
          <p:cNvPr id="6" name="Rectangle 1">
            <a:extLst>
              <a:ext uri="{FF2B5EF4-FFF2-40B4-BE49-F238E27FC236}">
                <a16:creationId xmlns:a16="http://schemas.microsoft.com/office/drawing/2014/main" id="{C583AEC0-90AA-896C-2A8C-78BCD8A693E1}"/>
              </a:ext>
            </a:extLst>
          </p:cNvPr>
          <p:cNvSpPr>
            <a:spLocks noChangeArrowheads="1"/>
          </p:cNvSpPr>
          <p:nvPr/>
        </p:nvSpPr>
        <p:spPr bwMode="auto">
          <a:xfrm>
            <a:off x="6725266" y="1964605"/>
            <a:ext cx="4885542" cy="420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Monthly transactions remain stable with periodic peaks in May and October.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February shows a temporary dip, followed by consistent recovery.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 major downward trend observed, indicating steady transaction activity.</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sz="2000" dirty="0"/>
              <a:t>December is excluded as data is available only until Dec 1.</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0832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7C6DE-D059-7182-0F97-42966C9D5322}"/>
              </a:ext>
            </a:extLst>
          </p:cNvPr>
          <p:cNvSpPr>
            <a:spLocks noGrp="1"/>
          </p:cNvSpPr>
          <p:nvPr>
            <p:ph type="title"/>
          </p:nvPr>
        </p:nvSpPr>
        <p:spPr/>
        <p:txBody>
          <a:bodyPr/>
          <a:lstStyle/>
          <a:p>
            <a:r>
              <a:rPr lang="en-IN" dirty="0"/>
              <a:t>Branch-Wise Transaction Amount Analysis</a:t>
            </a:r>
          </a:p>
        </p:txBody>
      </p:sp>
      <p:pic>
        <p:nvPicPr>
          <p:cNvPr id="5" name="Content Placeholder 4">
            <a:extLst>
              <a:ext uri="{FF2B5EF4-FFF2-40B4-BE49-F238E27FC236}">
                <a16:creationId xmlns:a16="http://schemas.microsoft.com/office/drawing/2014/main" id="{F5E05185-5C69-A2EF-3FC7-0168B18132CE}"/>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36000"/>
                    </a14:imgEffect>
                  </a14:imgLayer>
                </a14:imgProps>
              </a:ext>
            </a:extLst>
          </a:blip>
          <a:stretch>
            <a:fillRect/>
          </a:stretch>
        </p:blipFill>
        <p:spPr>
          <a:xfrm>
            <a:off x="653832" y="2440718"/>
            <a:ext cx="5216027" cy="3055513"/>
          </a:xfrm>
          <a:prstGeom prst="rect">
            <a:avLst/>
          </a:prstGeom>
        </p:spPr>
      </p:pic>
      <p:sp>
        <p:nvSpPr>
          <p:cNvPr id="7" name="TextBox 6">
            <a:extLst>
              <a:ext uri="{FF2B5EF4-FFF2-40B4-BE49-F238E27FC236}">
                <a16:creationId xmlns:a16="http://schemas.microsoft.com/office/drawing/2014/main" id="{4A05AD73-3C51-02DB-C443-3003538C60BA}"/>
              </a:ext>
            </a:extLst>
          </p:cNvPr>
          <p:cNvSpPr txBox="1"/>
          <p:nvPr/>
        </p:nvSpPr>
        <p:spPr>
          <a:xfrm>
            <a:off x="6322143" y="2149477"/>
            <a:ext cx="5388077" cy="42029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Transaction amounts are evenly distributed across all branches, ranging between ₹41.68M and ₹42.91M.</a:t>
            </a:r>
          </a:p>
          <a:p>
            <a:pPr marL="285750" indent="-285750">
              <a:lnSpc>
                <a:spcPct val="150000"/>
              </a:lnSpc>
              <a:buFont typeface="Arial" panose="020B0604020202020204" pitchFamily="34" charset="0"/>
              <a:buChar char="•"/>
            </a:pPr>
            <a:r>
              <a:rPr lang="en-US" sz="2000" dirty="0"/>
              <a:t>City Center Branch leads slightly, followed closely by Main and East Branch.</a:t>
            </a:r>
          </a:p>
          <a:p>
            <a:pPr marL="285750" indent="-285750">
              <a:lnSpc>
                <a:spcPct val="150000"/>
              </a:lnSpc>
              <a:buFont typeface="Arial" panose="020B0604020202020204" pitchFamily="34" charset="0"/>
              <a:buChar char="•"/>
            </a:pPr>
            <a:r>
              <a:rPr lang="en-US" sz="2000" dirty="0"/>
              <a:t>The minimal variation indicates balanced operational performance across branches.</a:t>
            </a:r>
          </a:p>
          <a:p>
            <a:pPr marL="285750" indent="-285750">
              <a:lnSpc>
                <a:spcPct val="150000"/>
              </a:lnSpc>
              <a:buFont typeface="Arial" panose="020B0604020202020204" pitchFamily="34" charset="0"/>
              <a:buChar char="•"/>
            </a:pPr>
            <a:r>
              <a:rPr lang="en-US" sz="2000" dirty="0"/>
              <a:t>No single branch shows significant dominance or underperformance.</a:t>
            </a:r>
          </a:p>
        </p:txBody>
      </p:sp>
    </p:spTree>
    <p:extLst>
      <p:ext uri="{BB962C8B-B14F-4D97-AF65-F5344CB8AC3E}">
        <p14:creationId xmlns:p14="http://schemas.microsoft.com/office/powerpoint/2010/main" val="2076285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FA4C-7784-DFCF-A06A-A4016C9FB993}"/>
              </a:ext>
            </a:extLst>
          </p:cNvPr>
          <p:cNvSpPr>
            <a:spLocks noGrp="1"/>
          </p:cNvSpPr>
          <p:nvPr>
            <p:ph type="title"/>
          </p:nvPr>
        </p:nvSpPr>
        <p:spPr/>
        <p:txBody>
          <a:bodyPr/>
          <a:lstStyle/>
          <a:p>
            <a:r>
              <a:rPr lang="en-US" dirty="0"/>
              <a:t>Transaction Volume by Bank Analysis</a:t>
            </a:r>
            <a:endParaRPr lang="en-IN" dirty="0"/>
          </a:p>
        </p:txBody>
      </p:sp>
      <p:pic>
        <p:nvPicPr>
          <p:cNvPr id="5" name="Content Placeholder 4">
            <a:extLst>
              <a:ext uri="{FF2B5EF4-FFF2-40B4-BE49-F238E27FC236}">
                <a16:creationId xmlns:a16="http://schemas.microsoft.com/office/drawing/2014/main" id="{229667B2-F1FA-9E7E-5DC4-346CAC363A90}"/>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30000"/>
                    </a14:imgEffect>
                    <a14:imgEffect>
                      <a14:brightnessContrast contrast="20000"/>
                    </a14:imgEffect>
                  </a14:imgLayer>
                </a14:imgProps>
              </a:ext>
            </a:extLst>
          </a:blip>
          <a:stretch>
            <a:fillRect/>
          </a:stretch>
        </p:blipFill>
        <p:spPr>
          <a:xfrm>
            <a:off x="581192" y="2511992"/>
            <a:ext cx="5131350" cy="3200550"/>
          </a:xfrm>
          <a:prstGeom prst="rect">
            <a:avLst/>
          </a:prstGeom>
        </p:spPr>
      </p:pic>
      <p:sp>
        <p:nvSpPr>
          <p:cNvPr id="7" name="TextBox 6">
            <a:extLst>
              <a:ext uri="{FF2B5EF4-FFF2-40B4-BE49-F238E27FC236}">
                <a16:creationId xmlns:a16="http://schemas.microsoft.com/office/drawing/2014/main" id="{86FB550C-D155-3D2F-8FE0-D86329610467}"/>
              </a:ext>
            </a:extLst>
          </p:cNvPr>
          <p:cNvSpPr txBox="1"/>
          <p:nvPr/>
        </p:nvSpPr>
        <p:spPr>
          <a:xfrm>
            <a:off x="5958348" y="2100316"/>
            <a:ext cx="5742039" cy="374128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Transaction volumes are closely aligned across all banks, ranging from ₹41.87M to ₹42.83M.</a:t>
            </a:r>
          </a:p>
          <a:p>
            <a:pPr marL="285750" indent="-285750">
              <a:lnSpc>
                <a:spcPct val="150000"/>
              </a:lnSpc>
              <a:buFont typeface="Arial" panose="020B0604020202020204" pitchFamily="34" charset="0"/>
              <a:buChar char="•"/>
            </a:pPr>
            <a:r>
              <a:rPr lang="en-US" sz="2000" dirty="0"/>
              <a:t>Kotak Mahindra Bank leads marginally, followed by Axis Bank and State Bank of India.</a:t>
            </a:r>
          </a:p>
          <a:p>
            <a:pPr marL="285750" indent="-285750">
              <a:lnSpc>
                <a:spcPct val="150000"/>
              </a:lnSpc>
              <a:buFont typeface="Arial" panose="020B0604020202020204" pitchFamily="34" charset="0"/>
              <a:buChar char="•"/>
            </a:pPr>
            <a:r>
              <a:rPr lang="en-US" sz="2000" dirty="0"/>
              <a:t>The narrow variation indicates balanced transaction distribution across banking partners.</a:t>
            </a:r>
          </a:p>
          <a:p>
            <a:pPr marL="285750" indent="-285750">
              <a:lnSpc>
                <a:spcPct val="150000"/>
              </a:lnSpc>
              <a:buFont typeface="Arial" panose="020B0604020202020204" pitchFamily="34" charset="0"/>
              <a:buChar char="•"/>
            </a:pPr>
            <a:r>
              <a:rPr lang="en-US" sz="2000" dirty="0"/>
              <a:t>No single bank shows significant dominance, reflecting diversified banking activity.</a:t>
            </a:r>
          </a:p>
        </p:txBody>
      </p:sp>
    </p:spTree>
    <p:extLst>
      <p:ext uri="{BB962C8B-B14F-4D97-AF65-F5344CB8AC3E}">
        <p14:creationId xmlns:p14="http://schemas.microsoft.com/office/powerpoint/2010/main" val="124791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A564-2A60-FA2A-E355-09B9FB7A552B}"/>
              </a:ext>
            </a:extLst>
          </p:cNvPr>
          <p:cNvSpPr>
            <a:spLocks noGrp="1"/>
          </p:cNvSpPr>
          <p:nvPr>
            <p:ph type="title"/>
          </p:nvPr>
        </p:nvSpPr>
        <p:spPr/>
        <p:txBody>
          <a:bodyPr/>
          <a:lstStyle/>
          <a:p>
            <a:r>
              <a:rPr lang="en-US" dirty="0"/>
              <a:t>Transaction Amount by Payment Method</a:t>
            </a:r>
            <a:endParaRPr lang="en-IN" dirty="0"/>
          </a:p>
        </p:txBody>
      </p:sp>
      <p:pic>
        <p:nvPicPr>
          <p:cNvPr id="5" name="Content Placeholder 4">
            <a:extLst>
              <a:ext uri="{FF2B5EF4-FFF2-40B4-BE49-F238E27FC236}">
                <a16:creationId xmlns:a16="http://schemas.microsoft.com/office/drawing/2014/main" id="{6B96EF85-D6AD-EC90-64DE-2881A4E954BA}"/>
              </a:ext>
            </a:extLst>
          </p:cNvPr>
          <p:cNvPicPr>
            <a:picLocks noGrp="1" noChangeAspect="1"/>
          </p:cNvPicPr>
          <p:nvPr>
            <p:ph idx="1"/>
          </p:nvPr>
        </p:nvPicPr>
        <p:blipFill>
          <a:blip r:embed="rId2"/>
          <a:stretch>
            <a:fillRect/>
          </a:stretch>
        </p:blipFill>
        <p:spPr>
          <a:xfrm>
            <a:off x="709010" y="2278945"/>
            <a:ext cx="4756184" cy="3187790"/>
          </a:xfrm>
          <a:prstGeom prst="rect">
            <a:avLst/>
          </a:prstGeom>
        </p:spPr>
      </p:pic>
      <p:sp>
        <p:nvSpPr>
          <p:cNvPr id="7" name="TextBox 6">
            <a:extLst>
              <a:ext uri="{FF2B5EF4-FFF2-40B4-BE49-F238E27FC236}">
                <a16:creationId xmlns:a16="http://schemas.microsoft.com/office/drawing/2014/main" id="{C58700DB-E9B6-B306-E409-491E25CAB223}"/>
              </a:ext>
            </a:extLst>
          </p:cNvPr>
          <p:cNvSpPr txBox="1"/>
          <p:nvPr/>
        </p:nvSpPr>
        <p:spPr>
          <a:xfrm>
            <a:off x="5514808" y="2169990"/>
            <a:ext cx="6096000" cy="42029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Transaction amounts are almost evenly distributed across Debit Card, Credit Card, and Bank Transfer.</a:t>
            </a:r>
          </a:p>
          <a:p>
            <a:pPr marL="285750" indent="-285750">
              <a:lnSpc>
                <a:spcPct val="150000"/>
              </a:lnSpc>
              <a:buFont typeface="Arial" panose="020B0604020202020204" pitchFamily="34" charset="0"/>
              <a:buChar char="•"/>
            </a:pPr>
            <a:r>
              <a:rPr lang="en-US" sz="2000" dirty="0"/>
              <a:t>Debit Card contributes the highest share (33.41%), closely followed by Credit Card (33.32%) and Bank Transfer (33.27%).</a:t>
            </a:r>
          </a:p>
          <a:p>
            <a:pPr marL="285750" indent="-285750">
              <a:lnSpc>
                <a:spcPct val="150000"/>
              </a:lnSpc>
              <a:buFont typeface="Arial" panose="020B0604020202020204" pitchFamily="34" charset="0"/>
              <a:buChar char="•"/>
            </a:pPr>
            <a:r>
              <a:rPr lang="en-US" sz="2000" dirty="0"/>
              <a:t>The minimal variation indicates balanced customer preference across payment methods.</a:t>
            </a:r>
          </a:p>
          <a:p>
            <a:pPr marL="285750" indent="-285750">
              <a:lnSpc>
                <a:spcPct val="150000"/>
              </a:lnSpc>
              <a:buFont typeface="Arial" panose="020B0604020202020204" pitchFamily="34" charset="0"/>
              <a:buChar char="•"/>
            </a:pPr>
            <a:r>
              <a:rPr lang="en-US" sz="2000" dirty="0"/>
              <a:t>No single transaction method dominates the overall volume.</a:t>
            </a:r>
          </a:p>
        </p:txBody>
      </p:sp>
    </p:spTree>
    <p:extLst>
      <p:ext uri="{BB962C8B-B14F-4D97-AF65-F5344CB8AC3E}">
        <p14:creationId xmlns:p14="http://schemas.microsoft.com/office/powerpoint/2010/main" val="3636745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2132-A160-7F48-7C34-701103FE3EFD}"/>
              </a:ext>
            </a:extLst>
          </p:cNvPr>
          <p:cNvSpPr>
            <a:spLocks noGrp="1"/>
          </p:cNvSpPr>
          <p:nvPr>
            <p:ph type="title"/>
          </p:nvPr>
        </p:nvSpPr>
        <p:spPr/>
        <p:txBody>
          <a:bodyPr/>
          <a:lstStyle/>
          <a:p>
            <a:r>
              <a:rPr lang="en-IN" dirty="0"/>
              <a:t>Monthly Transaction Growth Analysis</a:t>
            </a:r>
          </a:p>
        </p:txBody>
      </p:sp>
      <p:pic>
        <p:nvPicPr>
          <p:cNvPr id="5" name="Content Placeholder 4">
            <a:extLst>
              <a:ext uri="{FF2B5EF4-FFF2-40B4-BE49-F238E27FC236}">
                <a16:creationId xmlns:a16="http://schemas.microsoft.com/office/drawing/2014/main" id="{74E8B9FC-9BD1-735D-60E7-194961DC8780}"/>
              </a:ext>
            </a:extLst>
          </p:cNvPr>
          <p:cNvPicPr>
            <a:picLocks noGrp="1" noChangeAspect="1"/>
          </p:cNvPicPr>
          <p:nvPr>
            <p:ph idx="1"/>
          </p:nvPr>
        </p:nvPicPr>
        <p:blipFill>
          <a:blip r:embed="rId2"/>
          <a:stretch>
            <a:fillRect/>
          </a:stretch>
        </p:blipFill>
        <p:spPr>
          <a:xfrm>
            <a:off x="482870" y="2389013"/>
            <a:ext cx="5613130" cy="2625439"/>
          </a:xfrm>
          <a:prstGeom prst="rect">
            <a:avLst/>
          </a:prstGeom>
        </p:spPr>
      </p:pic>
      <p:sp>
        <p:nvSpPr>
          <p:cNvPr id="6" name="Rectangle 1">
            <a:extLst>
              <a:ext uri="{FF2B5EF4-FFF2-40B4-BE49-F238E27FC236}">
                <a16:creationId xmlns:a16="http://schemas.microsoft.com/office/drawing/2014/main" id="{F1C00AC2-B343-8550-478A-A87D41FB3596}"/>
              </a:ext>
            </a:extLst>
          </p:cNvPr>
          <p:cNvSpPr>
            <a:spLocks noChangeArrowheads="1"/>
          </p:cNvSpPr>
          <p:nvPr/>
        </p:nvSpPr>
        <p:spPr bwMode="auto">
          <a:xfrm>
            <a:off x="6096000" y="1878048"/>
            <a:ext cx="5761703"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February shows the sharpest decline (-9.43%), followed by strong recovery in March (+8.57%).</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Growth fluctuates throughout the year with moderate ups and downs.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Positive momentum appears in May, July, and October.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Overall trend indicates short-term volatility but stable performance overall.</a:t>
            </a:r>
          </a:p>
        </p:txBody>
      </p:sp>
    </p:spTree>
    <p:extLst>
      <p:ext uri="{BB962C8B-B14F-4D97-AF65-F5344CB8AC3E}">
        <p14:creationId xmlns:p14="http://schemas.microsoft.com/office/powerpoint/2010/main" val="3871130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00DD5-E10F-57E5-7CDD-5C2498B05789}"/>
              </a:ext>
            </a:extLst>
          </p:cNvPr>
          <p:cNvSpPr>
            <a:spLocks noGrp="1"/>
          </p:cNvSpPr>
          <p:nvPr>
            <p:ph type="title"/>
          </p:nvPr>
        </p:nvSpPr>
        <p:spPr/>
        <p:txBody>
          <a:bodyPr/>
          <a:lstStyle/>
          <a:p>
            <a:r>
              <a:rPr lang="en-US" dirty="0"/>
              <a:t>Loan Portfolio – Strategic Insights</a:t>
            </a:r>
            <a:endParaRPr lang="en-IN" dirty="0"/>
          </a:p>
        </p:txBody>
      </p:sp>
      <p:sp>
        <p:nvSpPr>
          <p:cNvPr id="3" name="Content Placeholder 2">
            <a:extLst>
              <a:ext uri="{FF2B5EF4-FFF2-40B4-BE49-F238E27FC236}">
                <a16:creationId xmlns:a16="http://schemas.microsoft.com/office/drawing/2014/main" id="{564A9C77-A29E-B09C-980E-ED40F6C6D193}"/>
              </a:ext>
            </a:extLst>
          </p:cNvPr>
          <p:cNvSpPr>
            <a:spLocks noGrp="1"/>
          </p:cNvSpPr>
          <p:nvPr>
            <p:ph idx="1"/>
          </p:nvPr>
        </p:nvSpPr>
        <p:spPr/>
        <p:txBody>
          <a:bodyPr>
            <a:normAutofit lnSpcReduction="10000"/>
          </a:bodyPr>
          <a:lstStyle/>
          <a:p>
            <a:pPr>
              <a:buFont typeface="Arial" panose="020B0604020202020204" pitchFamily="34" charset="0"/>
              <a:buChar char="•"/>
            </a:pPr>
            <a:r>
              <a:rPr lang="en-US" sz="2400" dirty="0">
                <a:solidFill>
                  <a:schemeClr val="tx1"/>
                </a:solidFill>
              </a:rPr>
              <a:t>Portfolio shows strong financial health with collections exceeding disbursement and low default rate (1.56%).</a:t>
            </a:r>
          </a:p>
          <a:p>
            <a:pPr>
              <a:buFont typeface="Arial" panose="020B0604020202020204" pitchFamily="34" charset="0"/>
              <a:buChar char="•"/>
            </a:pPr>
            <a:r>
              <a:rPr lang="en-US" sz="2400" dirty="0">
                <a:solidFill>
                  <a:schemeClr val="tx1"/>
                </a:solidFill>
              </a:rPr>
              <a:t>However, delinquency rate (10.84%) signals early-stage repayment stress.</a:t>
            </a:r>
          </a:p>
          <a:p>
            <a:pPr>
              <a:buFont typeface="Arial" panose="020B0604020202020204" pitchFamily="34" charset="0"/>
              <a:buChar char="•"/>
            </a:pPr>
            <a:r>
              <a:rPr lang="en-US" sz="2400" dirty="0">
                <a:solidFill>
                  <a:schemeClr val="tx1"/>
                </a:solidFill>
              </a:rPr>
              <a:t>Loan exposure is concentrated in a few states and heavily dependent on the XLG product category.</a:t>
            </a:r>
          </a:p>
          <a:p>
            <a:pPr>
              <a:buFont typeface="Arial" panose="020B0604020202020204" pitchFamily="34" charset="0"/>
              <a:buChar char="•"/>
            </a:pPr>
            <a:r>
              <a:rPr lang="en-US" sz="2400" dirty="0">
                <a:solidFill>
                  <a:schemeClr val="tx1"/>
                </a:solidFill>
              </a:rPr>
              <a:t>Majority borrowers fall within the 26–45 age group, indicating limited demographic diversification.</a:t>
            </a:r>
          </a:p>
          <a:p>
            <a:pPr>
              <a:buFont typeface="Arial" panose="020B0604020202020204" pitchFamily="34" charset="0"/>
              <a:buChar char="•"/>
            </a:pPr>
            <a:r>
              <a:rPr lang="en-US" sz="2400" dirty="0">
                <a:solidFill>
                  <a:schemeClr val="tx1"/>
                </a:solidFill>
              </a:rPr>
              <a:t>Seasonal disbursement spikes suggest cyclical lending behavior.</a:t>
            </a:r>
          </a:p>
          <a:p>
            <a:endParaRPr lang="en-IN" dirty="0"/>
          </a:p>
        </p:txBody>
      </p:sp>
    </p:spTree>
    <p:extLst>
      <p:ext uri="{BB962C8B-B14F-4D97-AF65-F5344CB8AC3E}">
        <p14:creationId xmlns:p14="http://schemas.microsoft.com/office/powerpoint/2010/main" val="569478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5586-9396-C111-C7ED-6C5B8A5F8705}"/>
              </a:ext>
            </a:extLst>
          </p:cNvPr>
          <p:cNvSpPr>
            <a:spLocks noGrp="1"/>
          </p:cNvSpPr>
          <p:nvPr>
            <p:ph type="title"/>
          </p:nvPr>
        </p:nvSpPr>
        <p:spPr/>
        <p:txBody>
          <a:bodyPr/>
          <a:lstStyle/>
          <a:p>
            <a:r>
              <a:rPr lang="en-US" dirty="0"/>
              <a:t>Loan Portfolio - Recommendations</a:t>
            </a:r>
            <a:endParaRPr lang="en-IN" dirty="0"/>
          </a:p>
        </p:txBody>
      </p:sp>
      <p:sp>
        <p:nvSpPr>
          <p:cNvPr id="3" name="Content Placeholder 2">
            <a:extLst>
              <a:ext uri="{FF2B5EF4-FFF2-40B4-BE49-F238E27FC236}">
                <a16:creationId xmlns:a16="http://schemas.microsoft.com/office/drawing/2014/main" id="{8BBEEDB4-A4D1-4EEF-69F9-6680E3056BD3}"/>
              </a:ext>
            </a:extLst>
          </p:cNvPr>
          <p:cNvSpPr>
            <a:spLocks noGrp="1"/>
          </p:cNvSpPr>
          <p:nvPr>
            <p:ph idx="1"/>
          </p:nvPr>
        </p:nvSpPr>
        <p:spPr/>
        <p:txBody>
          <a:bodyPr/>
          <a:lstStyle/>
          <a:p>
            <a:pPr>
              <a:buFont typeface="Arial" panose="020B0604020202020204" pitchFamily="34" charset="0"/>
              <a:buChar char="•"/>
            </a:pPr>
            <a:r>
              <a:rPr lang="en-US" sz="2400" dirty="0">
                <a:solidFill>
                  <a:schemeClr val="tx1"/>
                </a:solidFill>
              </a:rPr>
              <a:t>Implement proactive delinquency monitoring and early warning systems to reduce future NPAs.</a:t>
            </a:r>
          </a:p>
          <a:p>
            <a:pPr>
              <a:buFont typeface="Arial" panose="020B0604020202020204" pitchFamily="34" charset="0"/>
              <a:buChar char="•"/>
            </a:pPr>
            <a:r>
              <a:rPr lang="en-US" sz="2400" dirty="0">
                <a:solidFill>
                  <a:schemeClr val="tx1"/>
                </a:solidFill>
              </a:rPr>
              <a:t>Diversify product offerings to reduce reliance on XLG portfolio.</a:t>
            </a:r>
          </a:p>
          <a:p>
            <a:pPr>
              <a:buFont typeface="Arial" panose="020B0604020202020204" pitchFamily="34" charset="0"/>
              <a:buChar char="•"/>
            </a:pPr>
            <a:r>
              <a:rPr lang="en-US" sz="2400" dirty="0">
                <a:solidFill>
                  <a:schemeClr val="tx1"/>
                </a:solidFill>
              </a:rPr>
              <a:t>Expand lending in low-penetration states to mitigate geographic concentration risk.</a:t>
            </a:r>
          </a:p>
          <a:p>
            <a:pPr>
              <a:buFont typeface="Arial" panose="020B0604020202020204" pitchFamily="34" charset="0"/>
              <a:buChar char="•"/>
            </a:pPr>
            <a:r>
              <a:rPr lang="en-US" sz="2400" dirty="0">
                <a:solidFill>
                  <a:schemeClr val="tx1"/>
                </a:solidFill>
              </a:rPr>
              <a:t>Strengthen verification processes to reduce operational and compliance exposure.</a:t>
            </a:r>
          </a:p>
          <a:p>
            <a:pPr>
              <a:buFont typeface="Arial" panose="020B0604020202020204" pitchFamily="34" charset="0"/>
              <a:buChar char="•"/>
            </a:pPr>
            <a:r>
              <a:rPr lang="en-US" sz="2400" dirty="0">
                <a:solidFill>
                  <a:schemeClr val="tx1"/>
                </a:solidFill>
              </a:rPr>
              <a:t>Introduce targeted campaigns for underrepresented age groups to broaden portfolio base.</a:t>
            </a:r>
          </a:p>
          <a:p>
            <a:endParaRPr lang="en-IN" dirty="0"/>
          </a:p>
        </p:txBody>
      </p:sp>
    </p:spTree>
    <p:extLst>
      <p:ext uri="{BB962C8B-B14F-4D97-AF65-F5344CB8AC3E}">
        <p14:creationId xmlns:p14="http://schemas.microsoft.com/office/powerpoint/2010/main" val="1717750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BA03B-BCB8-9C0E-14E8-CDBF79FDD562}"/>
              </a:ext>
            </a:extLst>
          </p:cNvPr>
          <p:cNvSpPr>
            <a:spLocks noGrp="1"/>
          </p:cNvSpPr>
          <p:nvPr>
            <p:ph type="title"/>
          </p:nvPr>
        </p:nvSpPr>
        <p:spPr/>
        <p:txBody>
          <a:bodyPr/>
          <a:lstStyle/>
          <a:p>
            <a:r>
              <a:rPr lang="en-IN" dirty="0"/>
              <a:t>Debit &amp; Credit Performance – Strategic Insights</a:t>
            </a:r>
          </a:p>
        </p:txBody>
      </p:sp>
      <p:sp>
        <p:nvSpPr>
          <p:cNvPr id="5" name="Rectangle 2">
            <a:extLst>
              <a:ext uri="{FF2B5EF4-FFF2-40B4-BE49-F238E27FC236}">
                <a16:creationId xmlns:a16="http://schemas.microsoft.com/office/drawing/2014/main" id="{711EDA4F-B6E7-DCE2-9298-7898E8306F90}"/>
              </a:ext>
            </a:extLst>
          </p:cNvPr>
          <p:cNvSpPr>
            <a:spLocks noGrp="1" noChangeArrowheads="1"/>
          </p:cNvSpPr>
          <p:nvPr>
            <p:ph idx="1"/>
          </p:nvPr>
        </p:nvSpPr>
        <p:spPr bwMode="auto">
          <a:xfrm>
            <a:off x="581192" y="2311487"/>
            <a:ext cx="1092255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Credit and debit volumes are well-balanced, ensuring liquidity stability.</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Branches and banking partners show consistent performance with no major imbalance.</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Payment methods are evenly distributed, reducing dependency on a single channel.</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Monthly growth shows moderate volatility but no long-term decline trend.</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High-risk transaction count (5,296) indicates ongoing fraud exposure.</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Account activity ratio is relatively low, suggesting engagement improvement opportunity.</a:t>
            </a:r>
          </a:p>
        </p:txBody>
      </p:sp>
    </p:spTree>
    <p:extLst>
      <p:ext uri="{BB962C8B-B14F-4D97-AF65-F5344CB8AC3E}">
        <p14:creationId xmlns:p14="http://schemas.microsoft.com/office/powerpoint/2010/main" val="3967840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BB6D-4BF6-CBDB-83D7-8D862DEF3653}"/>
              </a:ext>
            </a:extLst>
          </p:cNvPr>
          <p:cNvSpPr>
            <a:spLocks noGrp="1"/>
          </p:cNvSpPr>
          <p:nvPr>
            <p:ph type="title"/>
          </p:nvPr>
        </p:nvSpPr>
        <p:spPr/>
        <p:txBody>
          <a:bodyPr/>
          <a:lstStyle/>
          <a:p>
            <a:r>
              <a:rPr lang="en-IN" dirty="0"/>
              <a:t>Debit &amp; Credit Performance – Recommendations</a:t>
            </a:r>
          </a:p>
        </p:txBody>
      </p:sp>
      <p:sp>
        <p:nvSpPr>
          <p:cNvPr id="3" name="Content Placeholder 2">
            <a:extLst>
              <a:ext uri="{FF2B5EF4-FFF2-40B4-BE49-F238E27FC236}">
                <a16:creationId xmlns:a16="http://schemas.microsoft.com/office/drawing/2014/main" id="{28152776-F1D7-38CB-C9D1-5925C6568460}"/>
              </a:ext>
            </a:extLst>
          </p:cNvPr>
          <p:cNvSpPr>
            <a:spLocks noGrp="1"/>
          </p:cNvSpPr>
          <p:nvPr>
            <p:ph idx="1"/>
          </p:nvPr>
        </p:nvSpPr>
        <p:spPr/>
        <p:txBody>
          <a:bodyPr/>
          <a:lstStyle/>
          <a:p>
            <a:pPr>
              <a:buFont typeface="Arial" panose="020B0604020202020204" pitchFamily="34" charset="0"/>
              <a:buChar char="•"/>
            </a:pPr>
            <a:r>
              <a:rPr lang="en-US" sz="2400" dirty="0">
                <a:solidFill>
                  <a:schemeClr val="tx1"/>
                </a:solidFill>
              </a:rPr>
              <a:t>Enhance fraud analytics and transaction monitoring systems.</a:t>
            </a:r>
          </a:p>
          <a:p>
            <a:pPr>
              <a:buFont typeface="Arial" panose="020B0604020202020204" pitchFamily="34" charset="0"/>
              <a:buChar char="•"/>
            </a:pPr>
            <a:r>
              <a:rPr lang="en-US" sz="2400" dirty="0">
                <a:solidFill>
                  <a:schemeClr val="tx1"/>
                </a:solidFill>
              </a:rPr>
              <a:t>Improve customer engagement strategies to increase transaction activity.</a:t>
            </a:r>
          </a:p>
          <a:p>
            <a:pPr>
              <a:buFont typeface="Arial" panose="020B0604020202020204" pitchFamily="34" charset="0"/>
              <a:buChar char="•"/>
            </a:pPr>
            <a:r>
              <a:rPr lang="en-US" sz="2400" dirty="0">
                <a:solidFill>
                  <a:schemeClr val="tx1"/>
                </a:solidFill>
              </a:rPr>
              <a:t>Leverage stable transaction trends for cross-selling and upselling initiatives.</a:t>
            </a:r>
          </a:p>
          <a:p>
            <a:pPr>
              <a:buFont typeface="Arial" panose="020B0604020202020204" pitchFamily="34" charset="0"/>
              <a:buChar char="•"/>
            </a:pPr>
            <a:r>
              <a:rPr lang="en-US" sz="2400" dirty="0">
                <a:solidFill>
                  <a:schemeClr val="tx1"/>
                </a:solidFill>
              </a:rPr>
              <a:t>Continue performance benchmarking across branches to maintain operational consistency.</a:t>
            </a:r>
          </a:p>
          <a:p>
            <a:pPr>
              <a:buFont typeface="Arial" panose="020B0604020202020204" pitchFamily="34" charset="0"/>
              <a:buChar char="•"/>
            </a:pPr>
            <a:r>
              <a:rPr lang="en-US" sz="2400" dirty="0">
                <a:solidFill>
                  <a:schemeClr val="tx1"/>
                </a:solidFill>
              </a:rPr>
              <a:t>Use seasonal transaction insights for better financial planning and campaign timing.</a:t>
            </a:r>
          </a:p>
          <a:p>
            <a:endParaRPr lang="en-IN" dirty="0"/>
          </a:p>
        </p:txBody>
      </p:sp>
    </p:spTree>
    <p:extLst>
      <p:ext uri="{BB962C8B-B14F-4D97-AF65-F5344CB8AC3E}">
        <p14:creationId xmlns:p14="http://schemas.microsoft.com/office/powerpoint/2010/main" val="381794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4D54-4619-EC49-0F30-390D3C096386}"/>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433CF14-AB47-CC99-3FDD-E431FCEC4436}"/>
              </a:ext>
            </a:extLst>
          </p:cNvPr>
          <p:cNvSpPr>
            <a:spLocks noGrp="1"/>
          </p:cNvSpPr>
          <p:nvPr>
            <p:ph idx="1"/>
          </p:nvPr>
        </p:nvSpPr>
        <p:spPr/>
        <p:txBody>
          <a:bodyPr/>
          <a:lstStyle/>
          <a:p>
            <a:pPr>
              <a:buFont typeface="Wingdings" panose="05000000000000000000" pitchFamily="2" charset="2"/>
              <a:buChar char="Ø"/>
            </a:pPr>
            <a:r>
              <a:rPr lang="en-US" sz="2400" dirty="0">
                <a:solidFill>
                  <a:schemeClr val="tx1"/>
                </a:solidFill>
              </a:rPr>
              <a:t>The bank demonstrates strong portfolio performance with healthy repayment and stable revenue generation.</a:t>
            </a:r>
          </a:p>
          <a:p>
            <a:pPr>
              <a:buFont typeface="Wingdings" panose="05000000000000000000" pitchFamily="2" charset="2"/>
              <a:buChar char="Ø"/>
            </a:pPr>
            <a:r>
              <a:rPr lang="en-US" sz="2400" dirty="0">
                <a:solidFill>
                  <a:schemeClr val="tx1"/>
                </a:solidFill>
              </a:rPr>
              <a:t>Credit and debit transactions remain balanced, indicating financial stability and operational consistency.</a:t>
            </a:r>
          </a:p>
          <a:p>
            <a:pPr>
              <a:buFont typeface="Wingdings" panose="05000000000000000000" pitchFamily="2" charset="2"/>
              <a:buChar char="Ø"/>
            </a:pPr>
            <a:r>
              <a:rPr lang="en-US" sz="2400" dirty="0">
                <a:solidFill>
                  <a:schemeClr val="tx1"/>
                </a:solidFill>
              </a:rPr>
              <a:t>While overall risk is controlled, delinquency levels and high-risk transactions require continuous monitoring.</a:t>
            </a:r>
          </a:p>
          <a:p>
            <a:pPr>
              <a:buFont typeface="Wingdings" panose="05000000000000000000" pitchFamily="2" charset="2"/>
              <a:buChar char="Ø"/>
            </a:pPr>
            <a:r>
              <a:rPr lang="en-US" sz="2400" dirty="0">
                <a:solidFill>
                  <a:schemeClr val="tx1"/>
                </a:solidFill>
              </a:rPr>
              <a:t>Strategic diversification and proactive risk management can further strengthen long-term growth.</a:t>
            </a:r>
          </a:p>
          <a:p>
            <a:endParaRPr lang="en-IN" dirty="0"/>
          </a:p>
        </p:txBody>
      </p:sp>
    </p:spTree>
    <p:extLst>
      <p:ext uri="{BB962C8B-B14F-4D97-AF65-F5344CB8AC3E}">
        <p14:creationId xmlns:p14="http://schemas.microsoft.com/office/powerpoint/2010/main" val="3336248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0C5A-7D58-5886-1BA3-FC8BF51E52D5}"/>
              </a:ext>
            </a:extLst>
          </p:cNvPr>
          <p:cNvSpPr>
            <a:spLocks noGrp="1"/>
          </p:cNvSpPr>
          <p:nvPr>
            <p:ph type="title"/>
          </p:nvPr>
        </p:nvSpPr>
        <p:spPr/>
        <p:txBody>
          <a:bodyPr/>
          <a:lstStyle/>
          <a:p>
            <a:r>
              <a:rPr lang="en-IN" dirty="0"/>
              <a:t>Bank loan Analytics dashboard</a:t>
            </a:r>
          </a:p>
        </p:txBody>
      </p:sp>
      <p:pic>
        <p:nvPicPr>
          <p:cNvPr id="5" name="Content Placeholder 4">
            <a:extLst>
              <a:ext uri="{FF2B5EF4-FFF2-40B4-BE49-F238E27FC236}">
                <a16:creationId xmlns:a16="http://schemas.microsoft.com/office/drawing/2014/main" id="{F858F92B-2E45-9D70-53E5-E1357ECB8828}"/>
              </a:ext>
            </a:extLst>
          </p:cNvPr>
          <p:cNvPicPr>
            <a:picLocks noGrp="1" noChangeAspect="1"/>
          </p:cNvPicPr>
          <p:nvPr>
            <p:ph idx="1"/>
          </p:nvPr>
        </p:nvPicPr>
        <p:blipFill>
          <a:blip r:embed="rId2"/>
          <a:srcRect t="5067" b="3985"/>
          <a:stretch>
            <a:fillRect/>
          </a:stretch>
        </p:blipFill>
        <p:spPr>
          <a:xfrm>
            <a:off x="467738" y="1857459"/>
            <a:ext cx="11256524" cy="4877638"/>
          </a:xfrm>
          <a:prstGeom prst="rect">
            <a:avLst/>
          </a:prstGeom>
        </p:spPr>
      </p:pic>
    </p:spTree>
    <p:extLst>
      <p:ext uri="{BB962C8B-B14F-4D97-AF65-F5344CB8AC3E}">
        <p14:creationId xmlns:p14="http://schemas.microsoft.com/office/powerpoint/2010/main" val="2602186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B8BB-C124-A08B-7431-9F607CD35207}"/>
              </a:ext>
            </a:extLst>
          </p:cNvPr>
          <p:cNvSpPr>
            <a:spLocks noGrp="1"/>
          </p:cNvSpPr>
          <p:nvPr>
            <p:ph type="title"/>
          </p:nvPr>
        </p:nvSpPr>
        <p:spPr/>
        <p:txBody>
          <a:bodyPr/>
          <a:lstStyle/>
          <a:p>
            <a:r>
              <a:rPr lang="en-IN" dirty="0"/>
              <a:t>Bank debit and credit dashboard</a:t>
            </a:r>
          </a:p>
        </p:txBody>
      </p:sp>
      <p:pic>
        <p:nvPicPr>
          <p:cNvPr id="5" name="Content Placeholder 4">
            <a:extLst>
              <a:ext uri="{FF2B5EF4-FFF2-40B4-BE49-F238E27FC236}">
                <a16:creationId xmlns:a16="http://schemas.microsoft.com/office/drawing/2014/main" id="{34C3FD6C-EACE-5388-7540-EB7833E8EB29}"/>
              </a:ext>
            </a:extLst>
          </p:cNvPr>
          <p:cNvPicPr>
            <a:picLocks noGrp="1" noChangeAspect="1"/>
          </p:cNvPicPr>
          <p:nvPr>
            <p:ph idx="1"/>
          </p:nvPr>
        </p:nvPicPr>
        <p:blipFill>
          <a:blip r:embed="rId2"/>
          <a:stretch>
            <a:fillRect/>
          </a:stretch>
        </p:blipFill>
        <p:spPr>
          <a:xfrm>
            <a:off x="481781" y="1847463"/>
            <a:ext cx="11257935" cy="4602498"/>
          </a:xfrm>
          <a:prstGeom prst="rect">
            <a:avLst/>
          </a:prstGeom>
        </p:spPr>
      </p:pic>
    </p:spTree>
    <p:extLst>
      <p:ext uri="{BB962C8B-B14F-4D97-AF65-F5344CB8AC3E}">
        <p14:creationId xmlns:p14="http://schemas.microsoft.com/office/powerpoint/2010/main" val="176125089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Custom 1">
      <a:majorFont>
        <a:latin typeface="Aptos"/>
        <a:ea typeface=""/>
        <a:cs typeface=""/>
      </a:majorFont>
      <a:minorFont>
        <a:latin typeface="Aptos Display"/>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emplate>TM03457464[[fn=Dividend]]</Template>
  <TotalTime>88</TotalTime>
  <Words>1640</Words>
  <Application>Microsoft Office PowerPoint</Application>
  <PresentationFormat>Widescreen</PresentationFormat>
  <Paragraphs>131</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Wingdings</vt:lpstr>
      <vt:lpstr>Wingdings 2</vt:lpstr>
      <vt:lpstr>Dividend</vt:lpstr>
      <vt:lpstr>Bank Loan &amp; Transaction Analysis Report</vt:lpstr>
      <vt:lpstr>Introduction</vt:lpstr>
      <vt:lpstr>DATA OVERVIEW</vt:lpstr>
      <vt:lpstr>Project Objectives</vt:lpstr>
      <vt:lpstr>process</vt:lpstr>
      <vt:lpstr>Loan Portfolio Analysis</vt:lpstr>
      <vt:lpstr>LOAN KPI OVERVIEW</vt:lpstr>
      <vt:lpstr>Branch-Wise Loan Distribution</vt:lpstr>
      <vt:lpstr>State-Wise Loan Distribution Analysis</vt:lpstr>
      <vt:lpstr>Religion-wise Loan Distribution</vt:lpstr>
      <vt:lpstr>Product Group Wise Loan Distribution</vt:lpstr>
      <vt:lpstr>Loan Disbursement Over Months</vt:lpstr>
      <vt:lpstr>Grade Wise Loan</vt:lpstr>
      <vt:lpstr>Loan Portfolio Distribution by Status</vt:lpstr>
      <vt:lpstr>Age Group–Wise Loan Distribution </vt:lpstr>
      <vt:lpstr>Bank Debit &amp; Credit Performance Analysis</vt:lpstr>
      <vt:lpstr>Debit &amp; Credit KPI Overview</vt:lpstr>
      <vt:lpstr>Monthly Transaction Analysis</vt:lpstr>
      <vt:lpstr>Branch-Wise Transaction Amount Analysis</vt:lpstr>
      <vt:lpstr>Transaction Volume by Bank Analysis</vt:lpstr>
      <vt:lpstr>Transaction Amount by Payment Method</vt:lpstr>
      <vt:lpstr>Monthly Transaction Growth Analysis</vt:lpstr>
      <vt:lpstr>Loan Portfolio – Strategic Insights</vt:lpstr>
      <vt:lpstr>Loan Portfolio - Recommendations</vt:lpstr>
      <vt:lpstr>Debit &amp; Credit Performance – Strategic Insights</vt:lpstr>
      <vt:lpstr>Debit &amp; Credit Performance – Recommendations</vt:lpstr>
      <vt:lpstr>Conclusion</vt:lpstr>
      <vt:lpstr>Bank loan Analytics dashboard</vt:lpstr>
      <vt:lpstr>Bank debit and credit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Manikutty V</dc:creator>
  <cp:lastModifiedBy>Manikutty V</cp:lastModifiedBy>
  <cp:revision>1</cp:revision>
  <dcterms:created xsi:type="dcterms:W3CDTF">2026-02-15T10:23:13Z</dcterms:created>
  <dcterms:modified xsi:type="dcterms:W3CDTF">2026-02-17T17:15:11Z</dcterms:modified>
</cp:coreProperties>
</file>